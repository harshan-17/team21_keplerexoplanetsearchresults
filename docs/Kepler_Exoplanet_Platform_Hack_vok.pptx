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508760"/>
            <a:ext cx="86868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NASA KEPLER EXOPLANET SEARCH RESULTS  ·  HACKATHON PROJECT</a:t>
            </a:r>
            <a:endParaRPr lang="en-US" sz="1200" dirty="0"/>
          </a:p>
        </p:txBody>
      </p:sp>
      <p:sp>
        <p:nvSpPr>
          <p:cNvPr id="3" name="Text 1"/>
          <p:cNvSpPr txBox="1"/>
          <p:nvPr/>
        </p:nvSpPr>
        <p:spPr>
          <a:xfrm>
            <a:off x="731520" y="1874520"/>
            <a:ext cx="6583680" cy="2377440"/>
          </a:xfrm>
          <a:prstGeom prst="rect">
            <a:avLst/>
          </a:prstGeom>
          <a:noFill/>
          <a:ln/>
        </p:spPr>
        <p:txBody>
          <a:bodyPr wrap="square" lIns="0" tIns="0" rIns="0" bIns="0" rtlCol="0" anchor="t"/>
          <a:lstStyle/>
          <a:p>
            <a:pPr indent="0" marL="0">
              <a:lnSpc>
                <a:spcPct val="95000"/>
              </a:lnSpc>
              <a:buNone/>
            </a:pPr>
            <a:r>
              <a:rPr lang="en-US" sz="5200" b="1" dirty="0">
                <a:solidFill>
                  <a:srgbClr val="F1F5F9"/>
                </a:solidFill>
                <a:latin typeface="Calibri" pitchFamily="34" charset="0"/>
                <a:ea typeface="Calibri" pitchFamily="34" charset="-122"/>
                <a:cs typeface="Calibri" pitchFamily="34" charset="-120"/>
              </a:rPr>
              <a:t>AI-Assisted Kepler</a:t>
            </a:r>
            <a:endParaRPr lang="en-US" sz="5200" dirty="0"/>
          </a:p>
          <a:p>
            <a:pPr indent="0" marL="0">
              <a:lnSpc>
                <a:spcPct val="95000"/>
              </a:lnSpc>
              <a:buNone/>
            </a:pPr>
            <a:r>
              <a:rPr lang="en-US" sz="5200" b="1" dirty="0">
                <a:solidFill>
                  <a:srgbClr val="F1F5F9"/>
                </a:solidFill>
                <a:latin typeface="Calibri" pitchFamily="34" charset="0"/>
                <a:ea typeface="Calibri" pitchFamily="34" charset="-122"/>
                <a:cs typeface="Calibri" pitchFamily="34" charset="-120"/>
              </a:rPr>
              <a:t>Exoplanet Analysis</a:t>
            </a:r>
            <a:endParaRPr lang="en-US" sz="5200" dirty="0"/>
          </a:p>
          <a:p>
            <a:pPr indent="0" marL="0">
              <a:lnSpc>
                <a:spcPct val="95000"/>
              </a:lnSpc>
              <a:buNone/>
            </a:pPr>
            <a:r>
              <a:rPr lang="en-US" sz="5200" b="1" dirty="0">
                <a:solidFill>
                  <a:srgbClr val="F1F5F9"/>
                </a:solidFill>
                <a:latin typeface="Calibri" pitchFamily="34" charset="0"/>
                <a:ea typeface="Calibri" pitchFamily="34" charset="-122"/>
                <a:cs typeface="Calibri" pitchFamily="34" charset="-120"/>
              </a:rPr>
              <a:t>Platform</a:t>
            </a:r>
            <a:endParaRPr lang="en-US" sz="5200" dirty="0"/>
          </a:p>
        </p:txBody>
      </p:sp>
      <p:sp>
        <p:nvSpPr>
          <p:cNvPr id="4" name="Text 2"/>
          <p:cNvSpPr txBox="1"/>
          <p:nvPr/>
        </p:nvSpPr>
        <p:spPr>
          <a:xfrm>
            <a:off x="731520" y="4434840"/>
            <a:ext cx="5669280" cy="822960"/>
          </a:xfrm>
          <a:prstGeom prst="rect">
            <a:avLst/>
          </a:prstGeom>
          <a:noFill/>
          <a:ln/>
        </p:spPr>
        <p:txBody>
          <a:bodyPr wrap="square" lIns="0" tIns="0" rIns="0" bIns="0" rtlCol="0" anchor="t"/>
          <a:lstStyle/>
          <a:p>
            <a:pPr indent="0" marL="0">
              <a:buNone/>
            </a:pPr>
            <a:r>
              <a:rPr lang="en-US" sz="1900" dirty="0">
                <a:solidFill>
                  <a:srgbClr val="9FB0C8"/>
                </a:solidFill>
                <a:latin typeface="Calibri" pitchFamily="34" charset="0"/>
                <a:ea typeface="Calibri" pitchFamily="34" charset="-122"/>
                <a:cs typeface="Calibri" pitchFamily="34" charset="-120"/>
              </a:rPr>
              <a:t>Exploring Exoplanet Candidates with AI, Machine Learning &amp; Data Visualization</a:t>
            </a:r>
            <a:endParaRPr lang="en-US" sz="1900" dirty="0"/>
          </a:p>
        </p:txBody>
      </p:sp>
      <p:sp>
        <p:nvSpPr>
          <p:cNvPr id="5" name="Shape 3"/>
          <p:cNvSpPr/>
          <p:nvPr/>
        </p:nvSpPr>
        <p:spPr>
          <a:xfrm>
            <a:off x="731520" y="5486400"/>
            <a:ext cx="2514600" cy="502920"/>
          </a:xfrm>
          <a:prstGeom prst="roundRect">
            <a:avLst>
              <a:gd name="adj" fmla="val 49091"/>
            </a:avLst>
          </a:prstGeom>
          <a:solidFill>
            <a:srgbClr val="0B1630">
              <a:alpha val="65000"/>
            </a:srgbClr>
          </a:solidFill>
          <a:ln w="9525">
            <a:solidFill>
              <a:srgbClr val="22D3EE">
                <a:alpha val="70000"/>
              </a:srgbClr>
            </a:solidFill>
            <a:prstDash val="solid"/>
          </a:ln>
        </p:spPr>
      </p:sp>
      <p:sp>
        <p:nvSpPr>
          <p:cNvPr id="6" name="Text 4"/>
          <p:cNvSpPr txBox="1"/>
          <p:nvPr/>
        </p:nvSpPr>
        <p:spPr>
          <a:xfrm>
            <a:off x="731520" y="5486400"/>
            <a:ext cx="2514600" cy="502920"/>
          </a:xfrm>
          <a:prstGeom prst="rect">
            <a:avLst/>
          </a:prstGeom>
          <a:noFill/>
          <a:ln/>
        </p:spPr>
        <p:txBody>
          <a:bodyPr wrap="square" lIns="0" tIns="0" rIns="0" bIns="0" rtlCol="0" anchor="ctr"/>
          <a:lstStyle/>
          <a:p>
            <a:pPr algn="ctr" indent="0" marL="0">
              <a:buNone/>
            </a:pPr>
            <a:r>
              <a:rPr lang="en-US" sz="1100" b="1" spc="300" kern="0" dirty="0">
                <a:solidFill>
                  <a:srgbClr val="22D3EE"/>
                </a:solidFill>
                <a:latin typeface="Calibri" pitchFamily="34" charset="0"/>
                <a:ea typeface="Calibri" pitchFamily="34" charset="-122"/>
                <a:cs typeface="Calibri" pitchFamily="34" charset="-120"/>
              </a:rPr>
              <a:t>TEAM  </a:t>
            </a:r>
            <a:pPr algn="ctr" indent="0" marL="0">
              <a:buNone/>
            </a:pPr>
            <a:r>
              <a:rPr lang="en-US" sz="1700" b="1" dirty="0">
                <a:solidFill>
                  <a:srgbClr val="F1F5F9"/>
                </a:solidFill>
                <a:latin typeface="Calibri" pitchFamily="34" charset="0"/>
                <a:ea typeface="Calibri" pitchFamily="34" charset="-122"/>
                <a:cs typeface="Calibri" pitchFamily="34" charset="-120"/>
              </a:rPr>
              <a:t>Hack vok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9184"/>
            <a:ext cx="7315200" cy="228600"/>
          </a:xfrm>
          <a:prstGeom prst="rect">
            <a:avLst/>
          </a:prstGeom>
          <a:noFill/>
          <a:ln/>
        </p:spPr>
        <p:txBody>
          <a:bodyPr wrap="square" lIns="0" tIns="0" rIns="0" bIns="0" rtlCol="0" anchor="t"/>
          <a:lstStyle/>
          <a:p>
            <a:pPr indent="0" marL="0">
              <a:buNone/>
            </a:pPr>
            <a:r>
              <a:rPr lang="en-US" sz="1100" b="1" spc="400" kern="0" dirty="0">
                <a:solidFill>
                  <a:srgbClr val="22D3EE"/>
                </a:solidFill>
                <a:latin typeface="Calibri" pitchFamily="34" charset="0"/>
                <a:ea typeface="Calibri" pitchFamily="34" charset="-122"/>
                <a:cs typeface="Calibri" pitchFamily="34" charset="-120"/>
              </a:rPr>
              <a:t>01  |  CONTEXT</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600" b="1" dirty="0">
                <a:solidFill>
                  <a:srgbClr val="F1F5F9"/>
                </a:solidFill>
                <a:latin typeface="Calibri" pitchFamily="34" charset="0"/>
                <a:ea typeface="Calibri" pitchFamily="34" charset="-122"/>
                <a:cs typeface="Calibri" pitchFamily="34" charset="-120"/>
              </a:rPr>
              <a:t>The Problem &amp; The Dataset</a:t>
            </a:r>
            <a:endParaRPr lang="en-US" sz="3600" dirty="0"/>
          </a:p>
        </p:txBody>
      </p:sp>
      <p:sp>
        <p:nvSpPr>
          <p:cNvPr id="4" name="Shape 2"/>
          <p:cNvSpPr/>
          <p:nvPr/>
        </p:nvSpPr>
        <p:spPr>
          <a:xfrm>
            <a:off x="548640" y="1463040"/>
            <a:ext cx="5394960" cy="4754880"/>
          </a:xfrm>
          <a:prstGeom prst="roundRect">
            <a:avLst>
              <a:gd name="adj" fmla="val 2308"/>
            </a:avLst>
          </a:prstGeom>
          <a:solidFill>
            <a:srgbClr val="0B1630">
              <a:alpha val="78000"/>
            </a:srgbClr>
          </a:solidFill>
          <a:ln w="9525">
            <a:solidFill>
              <a:srgbClr val="2B4B7E">
                <a:alpha val="65000"/>
              </a:srgbClr>
            </a:solidFill>
            <a:prstDash val="solid"/>
          </a:ln>
        </p:spPr>
      </p:sp>
      <p:sp>
        <p:nvSpPr>
          <p:cNvPr id="5" name="Shape 3"/>
          <p:cNvSpPr/>
          <p:nvPr/>
        </p:nvSpPr>
        <p:spPr>
          <a:xfrm>
            <a:off x="777240" y="1664208"/>
            <a:ext cx="420624" cy="420624"/>
          </a:xfrm>
          <a:prstGeom prst="ellipse">
            <a:avLst/>
          </a:prstGeom>
          <a:solidFill>
            <a:srgbClr val="F5C26B">
              <a:alpha val="20000"/>
            </a:srgbClr>
          </a:solidFill>
          <a:ln w="12700">
            <a:solidFill>
              <a:srgbClr val="F5C26B">
                <a:alpha val="75000"/>
              </a:srgbClr>
            </a:solidFill>
            <a:prstDash val="solid"/>
          </a:ln>
        </p:spPr>
      </p:sp>
      <p:pic>
        <p:nvPicPr>
          <p:cNvPr id="6" name="Image 0" descr="preencoded.png">    </p:cNvPr>
          <p:cNvPicPr>
            <a:picLocks noChangeAspect="1"/>
          </p:cNvPicPr>
          <p:nvPr/>
        </p:nvPicPr>
        <p:blipFill>
          <a:blip r:embed="rId2"/>
          <a:stretch>
            <a:fillRect/>
          </a:stretch>
        </p:blipFill>
        <p:spPr>
          <a:xfrm>
            <a:off x="890808" y="1777776"/>
            <a:ext cx="193487" cy="193487"/>
          </a:xfrm>
          <a:prstGeom prst="rect">
            <a:avLst/>
          </a:prstGeom>
        </p:spPr>
      </p:pic>
      <p:sp>
        <p:nvSpPr>
          <p:cNvPr id="7" name="Text 4"/>
          <p:cNvSpPr txBox="1"/>
          <p:nvPr/>
        </p:nvSpPr>
        <p:spPr>
          <a:xfrm>
            <a:off x="1325880" y="1764792"/>
            <a:ext cx="4572000" cy="274320"/>
          </a:xfrm>
          <a:prstGeom prst="rect">
            <a:avLst/>
          </a:prstGeom>
          <a:noFill/>
          <a:ln/>
        </p:spPr>
        <p:txBody>
          <a:bodyPr wrap="square" lIns="0" tIns="0" rIns="0" bIns="0" rtlCol="0" anchor="t"/>
          <a:lstStyle/>
          <a:p>
            <a:pPr indent="0" marL="0">
              <a:buNone/>
            </a:pPr>
            <a:r>
              <a:rPr lang="en-US" sz="1200" b="1" spc="300" kern="0" dirty="0">
                <a:solidFill>
                  <a:srgbClr val="F5C26B"/>
                </a:solidFill>
                <a:latin typeface="Calibri" pitchFamily="34" charset="0"/>
                <a:ea typeface="Calibri" pitchFamily="34" charset="-122"/>
                <a:cs typeface="Calibri" pitchFamily="34" charset="-120"/>
              </a:rPr>
              <a:t>THE PROBLEM</a:t>
            </a:r>
            <a:endParaRPr lang="en-US" sz="1200" dirty="0"/>
          </a:p>
        </p:txBody>
      </p:sp>
      <p:sp>
        <p:nvSpPr>
          <p:cNvPr id="8" name="Text 5"/>
          <p:cNvSpPr txBox="1"/>
          <p:nvPr/>
        </p:nvSpPr>
        <p:spPr>
          <a:xfrm>
            <a:off x="777240" y="2240280"/>
            <a:ext cx="4937760" cy="777240"/>
          </a:xfrm>
          <a:prstGeom prst="rect">
            <a:avLst/>
          </a:prstGeom>
          <a:noFill/>
          <a:ln/>
        </p:spPr>
        <p:txBody>
          <a:bodyPr wrap="square" lIns="0" tIns="0" rIns="0" bIns="0" rtlCol="0" anchor="t"/>
          <a:lstStyle/>
          <a:p>
            <a:pPr indent="0" marL="0">
              <a:buNone/>
            </a:pPr>
            <a:r>
              <a:rPr lang="en-US" sz="1400" dirty="0">
                <a:solidFill>
                  <a:srgbClr val="9FB0C8"/>
                </a:solidFill>
                <a:latin typeface="Calibri" pitchFamily="34" charset="0"/>
                <a:ea typeface="Calibri" pitchFamily="34" charset="-122"/>
                <a:cs typeface="Calibri" pitchFamily="34" charset="-120"/>
              </a:rPr>
              <a:t>NASA’s Kepler mission gathered a huge amount of information about stars and possible planets beyond our Solar System.</a:t>
            </a:r>
            <a:endParaRPr lang="en-US" sz="1400" dirty="0"/>
          </a:p>
        </p:txBody>
      </p:sp>
      <p:sp>
        <p:nvSpPr>
          <p:cNvPr id="9" name="Shape 6"/>
          <p:cNvSpPr/>
          <p:nvPr/>
        </p:nvSpPr>
        <p:spPr>
          <a:xfrm>
            <a:off x="804672" y="3172968"/>
            <a:ext cx="109728" cy="109728"/>
          </a:xfrm>
          <a:prstGeom prst="ellipse">
            <a:avLst/>
          </a:prstGeom>
          <a:solidFill>
            <a:srgbClr val="F5C26B"/>
          </a:solidFill>
          <a:ln w="6350">
            <a:solidFill>
              <a:srgbClr val="F5C26B"/>
            </a:solidFill>
            <a:prstDash val="solid"/>
          </a:ln>
        </p:spPr>
      </p:sp>
      <p:sp>
        <p:nvSpPr>
          <p:cNvPr id="10" name="Text 7"/>
          <p:cNvSpPr txBox="1"/>
          <p:nvPr/>
        </p:nvSpPr>
        <p:spPr>
          <a:xfrm>
            <a:off x="1097280" y="3108960"/>
            <a:ext cx="4572000" cy="41148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Thousands of records</a:t>
            </a:r>
            <a:endParaRPr lang="en-US" sz="1400" dirty="0"/>
          </a:p>
        </p:txBody>
      </p:sp>
      <p:sp>
        <p:nvSpPr>
          <p:cNvPr id="11" name="Shape 8"/>
          <p:cNvSpPr/>
          <p:nvPr/>
        </p:nvSpPr>
        <p:spPr>
          <a:xfrm>
            <a:off x="804672" y="3675888"/>
            <a:ext cx="109728" cy="109728"/>
          </a:xfrm>
          <a:prstGeom prst="ellipse">
            <a:avLst/>
          </a:prstGeom>
          <a:solidFill>
            <a:srgbClr val="F5C26B"/>
          </a:solidFill>
          <a:ln w="6350">
            <a:solidFill>
              <a:srgbClr val="F5C26B"/>
            </a:solidFill>
            <a:prstDash val="solid"/>
          </a:ln>
        </p:spPr>
      </p:sp>
      <p:sp>
        <p:nvSpPr>
          <p:cNvPr id="12" name="Text 9"/>
          <p:cNvSpPr txBox="1"/>
          <p:nvPr/>
        </p:nvSpPr>
        <p:spPr>
          <a:xfrm>
            <a:off x="1097280" y="3611880"/>
            <a:ext cx="4572000" cy="41148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Many technical parameters per record</a:t>
            </a:r>
            <a:endParaRPr lang="en-US" sz="1400" dirty="0"/>
          </a:p>
        </p:txBody>
      </p:sp>
      <p:sp>
        <p:nvSpPr>
          <p:cNvPr id="13" name="Shape 10"/>
          <p:cNvSpPr/>
          <p:nvPr/>
        </p:nvSpPr>
        <p:spPr>
          <a:xfrm>
            <a:off x="804672" y="4178808"/>
            <a:ext cx="109728" cy="109728"/>
          </a:xfrm>
          <a:prstGeom prst="ellipse">
            <a:avLst/>
          </a:prstGeom>
          <a:solidFill>
            <a:srgbClr val="F5C26B"/>
          </a:solidFill>
          <a:ln w="6350">
            <a:solidFill>
              <a:srgbClr val="F5C26B"/>
            </a:solidFill>
            <a:prstDash val="solid"/>
          </a:ln>
        </p:spPr>
      </p:sp>
      <p:sp>
        <p:nvSpPr>
          <p:cNvPr id="14" name="Text 11"/>
          <p:cNvSpPr txBox="1"/>
          <p:nvPr/>
        </p:nvSpPr>
        <p:spPr>
          <a:xfrm>
            <a:off x="1097280" y="4114800"/>
            <a:ext cx="4572000" cy="41148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Hard to understand what each measurement means</a:t>
            </a:r>
            <a:endParaRPr lang="en-US" sz="1400" dirty="0"/>
          </a:p>
        </p:txBody>
      </p:sp>
      <p:sp>
        <p:nvSpPr>
          <p:cNvPr id="15" name="Shape 12"/>
          <p:cNvSpPr/>
          <p:nvPr/>
        </p:nvSpPr>
        <p:spPr>
          <a:xfrm>
            <a:off x="804672" y="4681728"/>
            <a:ext cx="109728" cy="109728"/>
          </a:xfrm>
          <a:prstGeom prst="ellipse">
            <a:avLst/>
          </a:prstGeom>
          <a:solidFill>
            <a:srgbClr val="F5C26B"/>
          </a:solidFill>
          <a:ln w="6350">
            <a:solidFill>
              <a:srgbClr val="F5C26B"/>
            </a:solidFill>
            <a:prstDash val="solid"/>
          </a:ln>
        </p:spPr>
      </p:sp>
      <p:sp>
        <p:nvSpPr>
          <p:cNvPr id="16" name="Text 13"/>
          <p:cNvSpPr txBox="1"/>
          <p:nvPr/>
        </p:nvSpPr>
        <p:spPr>
          <a:xfrm>
            <a:off x="1097280" y="4617720"/>
            <a:ext cx="4572000" cy="41148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Manual searching is time-consuming</a:t>
            </a:r>
            <a:endParaRPr lang="en-US" sz="1400" dirty="0"/>
          </a:p>
        </p:txBody>
      </p:sp>
      <p:sp>
        <p:nvSpPr>
          <p:cNvPr id="17" name="Shape 14"/>
          <p:cNvSpPr/>
          <p:nvPr/>
        </p:nvSpPr>
        <p:spPr>
          <a:xfrm>
            <a:off x="804672" y="5184648"/>
            <a:ext cx="109728" cy="109728"/>
          </a:xfrm>
          <a:prstGeom prst="ellipse">
            <a:avLst/>
          </a:prstGeom>
          <a:solidFill>
            <a:srgbClr val="F5C26B"/>
          </a:solidFill>
          <a:ln w="6350">
            <a:solidFill>
              <a:srgbClr val="F5C26B"/>
            </a:solidFill>
            <a:prstDash val="solid"/>
          </a:ln>
        </p:spPr>
      </p:sp>
      <p:sp>
        <p:nvSpPr>
          <p:cNvPr id="18" name="Text 15"/>
          <p:cNvSpPr txBox="1"/>
          <p:nvPr/>
        </p:nvSpPr>
        <p:spPr>
          <a:xfrm>
            <a:off x="1097280" y="5120640"/>
            <a:ext cx="4572000" cy="41148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Users know what they want, but not which columns to use</a:t>
            </a:r>
            <a:endParaRPr lang="en-US" sz="1400" dirty="0"/>
          </a:p>
        </p:txBody>
      </p:sp>
      <p:sp>
        <p:nvSpPr>
          <p:cNvPr id="19" name="Shape 16"/>
          <p:cNvSpPr/>
          <p:nvPr/>
        </p:nvSpPr>
        <p:spPr>
          <a:xfrm>
            <a:off x="804672" y="5687568"/>
            <a:ext cx="109728" cy="109728"/>
          </a:xfrm>
          <a:prstGeom prst="ellipse">
            <a:avLst/>
          </a:prstGeom>
          <a:solidFill>
            <a:srgbClr val="F5C26B"/>
          </a:solidFill>
          <a:ln w="6350">
            <a:solidFill>
              <a:srgbClr val="F5C26B"/>
            </a:solidFill>
            <a:prstDash val="solid"/>
          </a:ln>
        </p:spPr>
      </p:sp>
      <p:sp>
        <p:nvSpPr>
          <p:cNvPr id="20" name="Text 17"/>
          <p:cNvSpPr txBox="1"/>
          <p:nvPr/>
        </p:nvSpPr>
        <p:spPr>
          <a:xfrm>
            <a:off x="1097280" y="5623560"/>
            <a:ext cx="4572000" cy="41148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Raw numerical data is difficult to interpret</a:t>
            </a:r>
            <a:endParaRPr lang="en-US" sz="1400" dirty="0"/>
          </a:p>
        </p:txBody>
      </p:sp>
      <p:sp>
        <p:nvSpPr>
          <p:cNvPr id="21" name="Shape 18"/>
          <p:cNvSpPr/>
          <p:nvPr/>
        </p:nvSpPr>
        <p:spPr>
          <a:xfrm>
            <a:off x="6245352" y="1463040"/>
            <a:ext cx="5394960" cy="4754880"/>
          </a:xfrm>
          <a:prstGeom prst="roundRect">
            <a:avLst>
              <a:gd name="adj" fmla="val 2308"/>
            </a:avLst>
          </a:prstGeom>
          <a:solidFill>
            <a:srgbClr val="0B1630">
              <a:alpha val="78000"/>
            </a:srgbClr>
          </a:solidFill>
          <a:ln w="9525">
            <a:solidFill>
              <a:srgbClr val="2B4B7E">
                <a:alpha val="65000"/>
              </a:srgbClr>
            </a:solidFill>
            <a:prstDash val="solid"/>
          </a:ln>
        </p:spPr>
      </p:sp>
      <p:sp>
        <p:nvSpPr>
          <p:cNvPr id="22" name="Shape 19"/>
          <p:cNvSpPr/>
          <p:nvPr/>
        </p:nvSpPr>
        <p:spPr>
          <a:xfrm>
            <a:off x="6473952" y="1664208"/>
            <a:ext cx="420624" cy="420624"/>
          </a:xfrm>
          <a:prstGeom prst="ellipse">
            <a:avLst/>
          </a:prstGeom>
          <a:solidFill>
            <a:srgbClr val="22D3EE">
              <a:alpha val="20000"/>
            </a:srgbClr>
          </a:solidFill>
          <a:ln w="12700">
            <a:solidFill>
              <a:srgbClr val="22D3EE">
                <a:alpha val="75000"/>
              </a:srgbClr>
            </a:solidFill>
            <a:prstDash val="solid"/>
          </a:ln>
        </p:spPr>
      </p:sp>
      <p:pic>
        <p:nvPicPr>
          <p:cNvPr id="23" name="Image 1" descr="preencoded.png">    </p:cNvPr>
          <p:cNvPicPr>
            <a:picLocks noChangeAspect="1"/>
          </p:cNvPicPr>
          <p:nvPr/>
        </p:nvPicPr>
        <p:blipFill>
          <a:blip r:embed="rId3"/>
          <a:stretch>
            <a:fillRect/>
          </a:stretch>
        </p:blipFill>
        <p:spPr>
          <a:xfrm>
            <a:off x="6587520" y="1777776"/>
            <a:ext cx="193487" cy="193487"/>
          </a:xfrm>
          <a:prstGeom prst="rect">
            <a:avLst/>
          </a:prstGeom>
        </p:spPr>
      </p:pic>
      <p:sp>
        <p:nvSpPr>
          <p:cNvPr id="24" name="Text 20"/>
          <p:cNvSpPr txBox="1"/>
          <p:nvPr/>
        </p:nvSpPr>
        <p:spPr>
          <a:xfrm>
            <a:off x="7022592" y="1764792"/>
            <a:ext cx="4572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DATASET</a:t>
            </a:r>
            <a:endParaRPr lang="en-US" sz="1200" dirty="0"/>
          </a:p>
        </p:txBody>
      </p:sp>
      <p:sp>
        <p:nvSpPr>
          <p:cNvPr id="25" name="Text 21"/>
          <p:cNvSpPr txBox="1"/>
          <p:nvPr/>
        </p:nvSpPr>
        <p:spPr>
          <a:xfrm>
            <a:off x="6473952" y="2240280"/>
            <a:ext cx="493776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NASA Kepler Exoplanet Search Results</a:t>
            </a:r>
            <a:endParaRPr lang="en-US" sz="1800" dirty="0"/>
          </a:p>
        </p:txBody>
      </p:sp>
      <p:sp>
        <p:nvSpPr>
          <p:cNvPr id="26" name="Text 22"/>
          <p:cNvSpPr txBox="1"/>
          <p:nvPr/>
        </p:nvSpPr>
        <p:spPr>
          <a:xfrm>
            <a:off x="6473952" y="2606040"/>
            <a:ext cx="4937760" cy="27432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Selected parameters: planet candidate, transit and signal, host star</a:t>
            </a:r>
            <a:endParaRPr lang="en-US" sz="1200" dirty="0"/>
          </a:p>
        </p:txBody>
      </p:sp>
      <p:sp>
        <p:nvSpPr>
          <p:cNvPr id="27" name="Shape 23"/>
          <p:cNvSpPr/>
          <p:nvPr/>
        </p:nvSpPr>
        <p:spPr>
          <a:xfrm>
            <a:off x="6473952" y="3017520"/>
            <a:ext cx="4937760" cy="2651760"/>
          </a:xfrm>
          <a:prstGeom prst="roundRect">
            <a:avLst>
              <a:gd name="adj" fmla="val 3448"/>
            </a:avLst>
          </a:prstGeom>
          <a:solidFill>
            <a:srgbClr val="060F24">
              <a:alpha val="90000"/>
            </a:srgbClr>
          </a:solidFill>
          <a:ln w="9525">
            <a:solidFill>
              <a:srgbClr val="1F3A66">
                <a:alpha val="65000"/>
              </a:srgbClr>
            </a:solidFill>
            <a:prstDash val="solid"/>
          </a:ln>
        </p:spPr>
      </p:sp>
      <p:sp>
        <p:nvSpPr>
          <p:cNvPr id="28" name="Text 24"/>
          <p:cNvSpPr txBox="1"/>
          <p:nvPr/>
        </p:nvSpPr>
        <p:spPr>
          <a:xfrm>
            <a:off x="6656832" y="3154680"/>
            <a:ext cx="3657600" cy="228600"/>
          </a:xfrm>
          <a:prstGeom prst="rect">
            <a:avLst/>
          </a:prstGeom>
          <a:noFill/>
          <a:ln/>
        </p:spPr>
        <p:txBody>
          <a:bodyPr wrap="square" lIns="0" tIns="0" rIns="0" bIns="0" rtlCol="0" anchor="t"/>
          <a:lstStyle/>
          <a:p>
            <a:pPr indent="0" marL="0">
              <a:buNone/>
            </a:pPr>
            <a:r>
              <a:rPr lang="en-US" sz="1050" b="1" spc="200" kern="0" dirty="0">
                <a:solidFill>
                  <a:srgbClr val="22D3EE"/>
                </a:solidFill>
                <a:latin typeface="Calibri" pitchFamily="34" charset="0"/>
                <a:ea typeface="Calibri" pitchFamily="34" charset="-122"/>
                <a:cs typeface="Calibri" pitchFamily="34" charset="-120"/>
              </a:rPr>
              <a:t>PLANET / CANDIDATE</a:t>
            </a:r>
            <a:endParaRPr lang="en-US" sz="1050" dirty="0"/>
          </a:p>
        </p:txBody>
      </p:sp>
      <p:sp>
        <p:nvSpPr>
          <p:cNvPr id="29" name="Shape 25"/>
          <p:cNvSpPr/>
          <p:nvPr/>
        </p:nvSpPr>
        <p:spPr>
          <a:xfrm>
            <a:off x="6656832" y="3456432"/>
            <a:ext cx="683971"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30" name="Text 26"/>
          <p:cNvSpPr txBox="1"/>
          <p:nvPr/>
        </p:nvSpPr>
        <p:spPr>
          <a:xfrm>
            <a:off x="6656832" y="3456432"/>
            <a:ext cx="683971"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Radius</a:t>
            </a:r>
            <a:endParaRPr lang="en-US" sz="1100" dirty="0"/>
          </a:p>
        </p:txBody>
      </p:sp>
      <p:sp>
        <p:nvSpPr>
          <p:cNvPr id="31" name="Shape 27"/>
          <p:cNvSpPr/>
          <p:nvPr/>
        </p:nvSpPr>
        <p:spPr>
          <a:xfrm>
            <a:off x="7432243" y="3456432"/>
            <a:ext cx="1254557"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32" name="Text 28"/>
          <p:cNvSpPr txBox="1"/>
          <p:nvPr/>
        </p:nvSpPr>
        <p:spPr>
          <a:xfrm>
            <a:off x="7432243" y="3456432"/>
            <a:ext cx="1254557"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Orbital period</a:t>
            </a:r>
            <a:endParaRPr lang="en-US" sz="1100" dirty="0"/>
          </a:p>
        </p:txBody>
      </p:sp>
      <p:sp>
        <p:nvSpPr>
          <p:cNvPr id="33" name="Shape 29"/>
          <p:cNvSpPr/>
          <p:nvPr/>
        </p:nvSpPr>
        <p:spPr>
          <a:xfrm>
            <a:off x="8778240" y="3456432"/>
            <a:ext cx="1397203"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34" name="Text 30"/>
          <p:cNvSpPr txBox="1"/>
          <p:nvPr/>
        </p:nvSpPr>
        <p:spPr>
          <a:xfrm>
            <a:off x="8778240" y="3456432"/>
            <a:ext cx="1397203"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Est. temperature</a:t>
            </a:r>
            <a:endParaRPr lang="en-US" sz="1100" dirty="0"/>
          </a:p>
        </p:txBody>
      </p:sp>
      <p:sp>
        <p:nvSpPr>
          <p:cNvPr id="35" name="Text 31"/>
          <p:cNvSpPr txBox="1"/>
          <p:nvPr/>
        </p:nvSpPr>
        <p:spPr>
          <a:xfrm>
            <a:off x="6656832" y="4005072"/>
            <a:ext cx="3657600" cy="228600"/>
          </a:xfrm>
          <a:prstGeom prst="rect">
            <a:avLst/>
          </a:prstGeom>
          <a:noFill/>
          <a:ln/>
        </p:spPr>
        <p:txBody>
          <a:bodyPr wrap="square" lIns="0" tIns="0" rIns="0" bIns="0" rtlCol="0" anchor="t"/>
          <a:lstStyle/>
          <a:p>
            <a:pPr indent="0" marL="0">
              <a:buNone/>
            </a:pPr>
            <a:r>
              <a:rPr lang="en-US" sz="1050" b="1" spc="200" kern="0" dirty="0">
                <a:solidFill>
                  <a:srgbClr val="A78BFA"/>
                </a:solidFill>
                <a:latin typeface="Calibri" pitchFamily="34" charset="0"/>
                <a:ea typeface="Calibri" pitchFamily="34" charset="-122"/>
                <a:cs typeface="Calibri" pitchFamily="34" charset="-120"/>
              </a:rPr>
              <a:t>TRANSIT &amp; SIGNAL</a:t>
            </a:r>
            <a:endParaRPr lang="en-US" sz="1050" dirty="0"/>
          </a:p>
        </p:txBody>
      </p:sp>
      <p:sp>
        <p:nvSpPr>
          <p:cNvPr id="36" name="Shape 32"/>
          <p:cNvSpPr/>
          <p:nvPr/>
        </p:nvSpPr>
        <p:spPr>
          <a:xfrm>
            <a:off x="6656832" y="4306824"/>
            <a:ext cx="1397203"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37" name="Text 33"/>
          <p:cNvSpPr txBox="1"/>
          <p:nvPr/>
        </p:nvSpPr>
        <p:spPr>
          <a:xfrm>
            <a:off x="6656832" y="4306824"/>
            <a:ext cx="1397203"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Transit duration</a:t>
            </a:r>
            <a:endParaRPr lang="en-US" sz="1100" dirty="0"/>
          </a:p>
        </p:txBody>
      </p:sp>
      <p:sp>
        <p:nvSpPr>
          <p:cNvPr id="38" name="Shape 34"/>
          <p:cNvSpPr/>
          <p:nvPr/>
        </p:nvSpPr>
        <p:spPr>
          <a:xfrm>
            <a:off x="8145475" y="4306824"/>
            <a:ext cx="1183234"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39" name="Text 35"/>
          <p:cNvSpPr txBox="1"/>
          <p:nvPr/>
        </p:nvSpPr>
        <p:spPr>
          <a:xfrm>
            <a:off x="8145475" y="4306824"/>
            <a:ext cx="1183234"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Transit depth</a:t>
            </a:r>
            <a:endParaRPr lang="en-US" sz="1100" dirty="0"/>
          </a:p>
        </p:txBody>
      </p:sp>
      <p:sp>
        <p:nvSpPr>
          <p:cNvPr id="40" name="Shape 36"/>
          <p:cNvSpPr/>
          <p:nvPr/>
        </p:nvSpPr>
        <p:spPr>
          <a:xfrm>
            <a:off x="9420149" y="4306824"/>
            <a:ext cx="1325880"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41" name="Text 37"/>
          <p:cNvSpPr txBox="1"/>
          <p:nvPr/>
        </p:nvSpPr>
        <p:spPr>
          <a:xfrm>
            <a:off x="9420149" y="4306824"/>
            <a:ext cx="1325880"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Signal-to-noise</a:t>
            </a:r>
            <a:endParaRPr lang="en-US" sz="1100" dirty="0"/>
          </a:p>
        </p:txBody>
      </p:sp>
      <p:sp>
        <p:nvSpPr>
          <p:cNvPr id="42" name="Text 38"/>
          <p:cNvSpPr txBox="1"/>
          <p:nvPr/>
        </p:nvSpPr>
        <p:spPr>
          <a:xfrm>
            <a:off x="6656832" y="4855464"/>
            <a:ext cx="3657600" cy="228600"/>
          </a:xfrm>
          <a:prstGeom prst="rect">
            <a:avLst/>
          </a:prstGeom>
          <a:noFill/>
          <a:ln/>
        </p:spPr>
        <p:txBody>
          <a:bodyPr wrap="square" lIns="0" tIns="0" rIns="0" bIns="0" rtlCol="0" anchor="t"/>
          <a:lstStyle/>
          <a:p>
            <a:pPr indent="0" marL="0">
              <a:buNone/>
            </a:pPr>
            <a:r>
              <a:rPr lang="en-US" sz="1050" b="1" spc="200" kern="0" dirty="0">
                <a:solidFill>
                  <a:srgbClr val="F5C26B"/>
                </a:solidFill>
                <a:latin typeface="Calibri" pitchFamily="34" charset="0"/>
                <a:ea typeface="Calibri" pitchFamily="34" charset="-122"/>
                <a:cs typeface="Calibri" pitchFamily="34" charset="-120"/>
              </a:rPr>
              <a:t>HOST STAR</a:t>
            </a:r>
            <a:endParaRPr lang="en-US" sz="1050" dirty="0"/>
          </a:p>
        </p:txBody>
      </p:sp>
      <p:sp>
        <p:nvSpPr>
          <p:cNvPr id="43" name="Shape 39"/>
          <p:cNvSpPr/>
          <p:nvPr/>
        </p:nvSpPr>
        <p:spPr>
          <a:xfrm>
            <a:off x="6656832" y="5157216"/>
            <a:ext cx="1040587" cy="347472"/>
          </a:xfrm>
          <a:prstGeom prst="roundRect">
            <a:avLst>
              <a:gd name="adj" fmla="val 50000"/>
            </a:avLst>
          </a:prstGeom>
          <a:solidFill>
            <a:srgbClr val="F5C26B">
              <a:alpha val="18000"/>
            </a:srgbClr>
          </a:solidFill>
          <a:ln w="9525">
            <a:solidFill>
              <a:srgbClr val="F5C26B">
                <a:alpha val="70000"/>
              </a:srgbClr>
            </a:solidFill>
            <a:prstDash val="solid"/>
          </a:ln>
        </p:spPr>
      </p:sp>
      <p:sp>
        <p:nvSpPr>
          <p:cNvPr id="44" name="Text 40"/>
          <p:cNvSpPr txBox="1"/>
          <p:nvPr/>
        </p:nvSpPr>
        <p:spPr>
          <a:xfrm>
            <a:off x="6656832" y="5157216"/>
            <a:ext cx="1040587"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Temperature</a:t>
            </a:r>
            <a:endParaRPr lang="en-US" sz="1100" dirty="0"/>
          </a:p>
        </p:txBody>
      </p:sp>
      <p:sp>
        <p:nvSpPr>
          <p:cNvPr id="45" name="Shape 41"/>
          <p:cNvSpPr/>
          <p:nvPr/>
        </p:nvSpPr>
        <p:spPr>
          <a:xfrm>
            <a:off x="7788859" y="5157216"/>
            <a:ext cx="683971" cy="347472"/>
          </a:xfrm>
          <a:prstGeom prst="roundRect">
            <a:avLst>
              <a:gd name="adj" fmla="val 50000"/>
            </a:avLst>
          </a:prstGeom>
          <a:solidFill>
            <a:srgbClr val="F5C26B">
              <a:alpha val="18000"/>
            </a:srgbClr>
          </a:solidFill>
          <a:ln w="9525">
            <a:solidFill>
              <a:srgbClr val="F5C26B">
                <a:alpha val="70000"/>
              </a:srgbClr>
            </a:solidFill>
            <a:prstDash val="solid"/>
          </a:ln>
        </p:spPr>
      </p:sp>
      <p:sp>
        <p:nvSpPr>
          <p:cNvPr id="46" name="Text 42"/>
          <p:cNvSpPr txBox="1"/>
          <p:nvPr/>
        </p:nvSpPr>
        <p:spPr>
          <a:xfrm>
            <a:off x="7788859" y="5157216"/>
            <a:ext cx="683971"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Radius</a:t>
            </a:r>
            <a:endParaRPr lang="en-US" sz="1100" dirty="0"/>
          </a:p>
        </p:txBody>
      </p:sp>
      <p:sp>
        <p:nvSpPr>
          <p:cNvPr id="47" name="Shape 43"/>
          <p:cNvSpPr/>
          <p:nvPr/>
        </p:nvSpPr>
        <p:spPr>
          <a:xfrm>
            <a:off x="8564270" y="5157216"/>
            <a:ext cx="1325880" cy="347472"/>
          </a:xfrm>
          <a:prstGeom prst="roundRect">
            <a:avLst>
              <a:gd name="adj" fmla="val 50000"/>
            </a:avLst>
          </a:prstGeom>
          <a:solidFill>
            <a:srgbClr val="F5C26B">
              <a:alpha val="18000"/>
            </a:srgbClr>
          </a:solidFill>
          <a:ln w="9525">
            <a:solidFill>
              <a:srgbClr val="F5C26B">
                <a:alpha val="70000"/>
              </a:srgbClr>
            </a:solidFill>
            <a:prstDash val="solid"/>
          </a:ln>
        </p:spPr>
      </p:sp>
      <p:sp>
        <p:nvSpPr>
          <p:cNvPr id="48" name="Text 44"/>
          <p:cNvSpPr txBox="1"/>
          <p:nvPr/>
        </p:nvSpPr>
        <p:spPr>
          <a:xfrm>
            <a:off x="8564270" y="5157216"/>
            <a:ext cx="1325880"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Surface gravity</a:t>
            </a:r>
            <a:endParaRPr lang="en-US" sz="1100" dirty="0"/>
          </a:p>
        </p:txBody>
      </p:sp>
      <p:sp>
        <p:nvSpPr>
          <p:cNvPr id="49" name="Shape 45"/>
          <p:cNvSpPr/>
          <p:nvPr/>
        </p:nvSpPr>
        <p:spPr>
          <a:xfrm>
            <a:off x="9981590" y="5157216"/>
            <a:ext cx="969264" cy="347472"/>
          </a:xfrm>
          <a:prstGeom prst="roundRect">
            <a:avLst>
              <a:gd name="adj" fmla="val 50000"/>
            </a:avLst>
          </a:prstGeom>
          <a:solidFill>
            <a:srgbClr val="F5C26B">
              <a:alpha val="18000"/>
            </a:srgbClr>
          </a:solidFill>
          <a:ln w="9525">
            <a:solidFill>
              <a:srgbClr val="F5C26B">
                <a:alpha val="70000"/>
              </a:srgbClr>
            </a:solidFill>
            <a:prstDash val="solid"/>
          </a:ln>
        </p:spPr>
      </p:sp>
      <p:sp>
        <p:nvSpPr>
          <p:cNvPr id="50" name="Text 46"/>
          <p:cNvSpPr txBox="1"/>
          <p:nvPr/>
        </p:nvSpPr>
        <p:spPr>
          <a:xfrm>
            <a:off x="9981590" y="5157216"/>
            <a:ext cx="969264"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Brightness</a:t>
            </a:r>
            <a:endParaRPr lang="en-US" sz="1100" dirty="0"/>
          </a:p>
        </p:txBody>
      </p:sp>
      <p:pic>
        <p:nvPicPr>
          <p:cNvPr id="51" name="Image 2" descr="preencoded.png">    </p:cNvPr>
          <p:cNvPicPr>
            <a:picLocks noChangeAspect="1"/>
          </p:cNvPicPr>
          <p:nvPr/>
        </p:nvPicPr>
        <p:blipFill>
          <a:blip r:embed="rId4"/>
          <a:stretch>
            <a:fillRect/>
          </a:stretch>
        </p:blipFill>
        <p:spPr>
          <a:xfrm>
            <a:off x="6473952" y="5833872"/>
            <a:ext cx="182880" cy="182880"/>
          </a:xfrm>
          <a:prstGeom prst="rect">
            <a:avLst/>
          </a:prstGeom>
        </p:spPr>
      </p:pic>
      <p:sp>
        <p:nvSpPr>
          <p:cNvPr id="52" name="Text 47"/>
          <p:cNvSpPr txBox="1"/>
          <p:nvPr/>
        </p:nvSpPr>
        <p:spPr>
          <a:xfrm>
            <a:off x="6748272" y="5824728"/>
            <a:ext cx="4663440" cy="228600"/>
          </a:xfrm>
          <a:prstGeom prst="rect">
            <a:avLst/>
          </a:prstGeom>
          <a:noFill/>
          <a:ln/>
        </p:spPr>
        <p:txBody>
          <a:bodyPr wrap="square" lIns="0" tIns="0" rIns="0" bIns="0" rtlCol="0" anchor="ctr"/>
          <a:lstStyle/>
          <a:p>
            <a:pPr indent="0" marL="0">
              <a:buNone/>
            </a:pPr>
            <a:r>
              <a:rPr lang="en-US" sz="1100" dirty="0">
                <a:solidFill>
                  <a:srgbClr val="9FB0C8"/>
                </a:solidFill>
                <a:latin typeface="Calibri" pitchFamily="34" charset="0"/>
                <a:ea typeface="Calibri" pitchFamily="34" charset="-122"/>
                <a:cs typeface="Calibri" pitchFamily="34" charset="-120"/>
              </a:rPr>
              <a:t>Source: NASA Kepler Exoplanet Search Results — Kaggle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9184"/>
            <a:ext cx="7315200" cy="228600"/>
          </a:xfrm>
          <a:prstGeom prst="rect">
            <a:avLst/>
          </a:prstGeom>
          <a:noFill/>
          <a:ln/>
        </p:spPr>
        <p:txBody>
          <a:bodyPr wrap="square" lIns="0" tIns="0" rIns="0" bIns="0" rtlCol="0" anchor="t"/>
          <a:lstStyle/>
          <a:p>
            <a:pPr indent="0" marL="0">
              <a:buNone/>
            </a:pPr>
            <a:r>
              <a:rPr lang="en-US" sz="1100" b="1" spc="400" kern="0" dirty="0">
                <a:solidFill>
                  <a:srgbClr val="22D3EE"/>
                </a:solidFill>
                <a:latin typeface="Calibri" pitchFamily="34" charset="0"/>
                <a:ea typeface="Calibri" pitchFamily="34" charset="-122"/>
                <a:cs typeface="Calibri" pitchFamily="34" charset="-120"/>
              </a:rPr>
              <a:t>02  |  SOLUTION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600" b="1" dirty="0">
                <a:solidFill>
                  <a:srgbClr val="F1F5F9"/>
                </a:solidFill>
                <a:latin typeface="Calibri" pitchFamily="34" charset="0"/>
                <a:ea typeface="Calibri" pitchFamily="34" charset="-122"/>
                <a:cs typeface="Calibri" pitchFamily="34" charset="-120"/>
              </a:rPr>
              <a:t>Our Solution</a:t>
            </a:r>
            <a:endParaRPr lang="en-US" sz="3600" dirty="0"/>
          </a:p>
        </p:txBody>
      </p:sp>
      <p:sp>
        <p:nvSpPr>
          <p:cNvPr id="4" name="Text 2"/>
          <p:cNvSpPr txBox="1"/>
          <p:nvPr/>
        </p:nvSpPr>
        <p:spPr>
          <a:xfrm>
            <a:off x="548640" y="1280160"/>
            <a:ext cx="10972800" cy="365760"/>
          </a:xfrm>
          <a:prstGeom prst="rect">
            <a:avLst/>
          </a:prstGeom>
          <a:noFill/>
          <a:ln/>
        </p:spPr>
        <p:txBody>
          <a:bodyPr wrap="square" lIns="0" tIns="0" rIns="0" bIns="0" rtlCol="0" anchor="t"/>
          <a:lstStyle/>
          <a:p>
            <a:pPr indent="0" marL="0">
              <a:buNone/>
            </a:pPr>
            <a:r>
              <a:rPr lang="en-US" sz="1800" i="1" dirty="0">
                <a:solidFill>
                  <a:srgbClr val="22D3EE"/>
                </a:solidFill>
                <a:latin typeface="Calibri" pitchFamily="34" charset="0"/>
                <a:ea typeface="Calibri" pitchFamily="34" charset="-122"/>
                <a:cs typeface="Calibri" pitchFamily="34" charset="-120"/>
              </a:rPr>
              <a:t>“An Interactive AI-Assisted Kepler Exoplanet Analysis Platform”</a:t>
            </a:r>
            <a:endParaRPr lang="en-US" sz="1800" dirty="0"/>
          </a:p>
        </p:txBody>
      </p:sp>
      <p:sp>
        <p:nvSpPr>
          <p:cNvPr id="5" name="Shape 3"/>
          <p:cNvSpPr/>
          <p:nvPr/>
        </p:nvSpPr>
        <p:spPr>
          <a:xfrm>
            <a:off x="548640" y="1828800"/>
            <a:ext cx="5943600" cy="3840480"/>
          </a:xfrm>
          <a:prstGeom prst="roundRect">
            <a:avLst>
              <a:gd name="adj" fmla="val 2857"/>
            </a:avLst>
          </a:prstGeom>
          <a:solidFill>
            <a:srgbClr val="0B1630">
              <a:alpha val="78000"/>
            </a:srgbClr>
          </a:solidFill>
          <a:ln w="9525">
            <a:solidFill>
              <a:srgbClr val="2B4B7E">
                <a:alpha val="65000"/>
              </a:srgbClr>
            </a:solidFill>
            <a:prstDash val="solid"/>
          </a:ln>
        </p:spPr>
      </p:sp>
      <p:sp>
        <p:nvSpPr>
          <p:cNvPr id="6" name="Shape 4"/>
          <p:cNvSpPr/>
          <p:nvPr/>
        </p:nvSpPr>
        <p:spPr>
          <a:xfrm>
            <a:off x="749808" y="1993392"/>
            <a:ext cx="100584" cy="100584"/>
          </a:xfrm>
          <a:prstGeom prst="ellipse">
            <a:avLst/>
          </a:prstGeom>
          <a:solidFill>
            <a:srgbClr val="F5C26B"/>
          </a:solidFill>
          <a:ln w="3175">
            <a:solidFill>
              <a:srgbClr val="2B4B7E"/>
            </a:solidFill>
            <a:prstDash val="solid"/>
          </a:ln>
        </p:spPr>
      </p:sp>
      <p:sp>
        <p:nvSpPr>
          <p:cNvPr id="7" name="Shape 5"/>
          <p:cNvSpPr/>
          <p:nvPr/>
        </p:nvSpPr>
        <p:spPr>
          <a:xfrm>
            <a:off x="932688" y="1993392"/>
            <a:ext cx="100584" cy="100584"/>
          </a:xfrm>
          <a:prstGeom prst="ellipse">
            <a:avLst/>
          </a:prstGeom>
          <a:solidFill>
            <a:srgbClr val="22D3EE"/>
          </a:solidFill>
          <a:ln w="3175">
            <a:solidFill>
              <a:srgbClr val="2B4B7E"/>
            </a:solidFill>
            <a:prstDash val="solid"/>
          </a:ln>
        </p:spPr>
      </p:sp>
      <p:sp>
        <p:nvSpPr>
          <p:cNvPr id="8" name="Shape 6"/>
          <p:cNvSpPr/>
          <p:nvPr/>
        </p:nvSpPr>
        <p:spPr>
          <a:xfrm>
            <a:off x="1115568" y="1993392"/>
            <a:ext cx="100584" cy="100584"/>
          </a:xfrm>
          <a:prstGeom prst="ellipse">
            <a:avLst/>
          </a:prstGeom>
          <a:solidFill>
            <a:srgbClr val="A78BFA"/>
          </a:solidFill>
          <a:ln w="3175">
            <a:solidFill>
              <a:srgbClr val="2B4B7E"/>
            </a:solidFill>
            <a:prstDash val="solid"/>
          </a:ln>
        </p:spPr>
      </p:sp>
      <p:sp>
        <p:nvSpPr>
          <p:cNvPr id="9" name="Text 7"/>
          <p:cNvSpPr txBox="1"/>
          <p:nvPr/>
        </p:nvSpPr>
        <p:spPr>
          <a:xfrm>
            <a:off x="1417320" y="1947672"/>
            <a:ext cx="2743200" cy="201168"/>
          </a:xfrm>
          <a:prstGeom prst="rect">
            <a:avLst/>
          </a:prstGeom>
          <a:noFill/>
          <a:ln/>
        </p:spPr>
        <p:txBody>
          <a:bodyPr wrap="square" lIns="0" tIns="0" rIns="0" bIns="0" rtlCol="0" anchor="t"/>
          <a:lstStyle/>
          <a:p>
            <a:pPr indent="0" marL="0">
              <a:buNone/>
            </a:pPr>
            <a:r>
              <a:rPr lang="en-US" sz="1050" b="1" spc="300" kern="0" dirty="0">
                <a:solidFill>
                  <a:srgbClr val="9FB0C8"/>
                </a:solidFill>
                <a:latin typeface="Calibri" pitchFamily="34" charset="0"/>
                <a:ea typeface="Calibri" pitchFamily="34" charset="-122"/>
                <a:cs typeface="Calibri" pitchFamily="34" charset="-120"/>
              </a:rPr>
              <a:t>KEPLER ASSISTANT</a:t>
            </a:r>
            <a:endParaRPr lang="en-US" sz="1050" dirty="0"/>
          </a:p>
        </p:txBody>
      </p:sp>
      <p:sp>
        <p:nvSpPr>
          <p:cNvPr id="10" name="Shape 8"/>
          <p:cNvSpPr/>
          <p:nvPr/>
        </p:nvSpPr>
        <p:spPr>
          <a:xfrm>
            <a:off x="1554480" y="2286000"/>
            <a:ext cx="4754880" cy="658368"/>
          </a:xfrm>
          <a:prstGeom prst="roundRect">
            <a:avLst>
              <a:gd name="adj" fmla="val 20833"/>
            </a:avLst>
          </a:prstGeom>
          <a:solidFill>
            <a:srgbClr val="2748A8">
              <a:alpha val="85000"/>
            </a:srgbClr>
          </a:solidFill>
          <a:ln w="9525">
            <a:solidFill>
              <a:srgbClr val="60A5FA">
                <a:alpha val="70000"/>
              </a:srgbClr>
            </a:solidFill>
            <a:prstDash val="solid"/>
          </a:ln>
        </p:spPr>
      </p:sp>
      <p:sp>
        <p:nvSpPr>
          <p:cNvPr id="11" name="Text 9"/>
          <p:cNvSpPr txBox="1"/>
          <p:nvPr/>
        </p:nvSpPr>
        <p:spPr>
          <a:xfrm>
            <a:off x="1691640" y="2286000"/>
            <a:ext cx="4480560" cy="658368"/>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Show me small planet candidates with an orbital period greater than 20 days.</a:t>
            </a:r>
            <a:endParaRPr lang="en-US" sz="1350" dirty="0"/>
          </a:p>
        </p:txBody>
      </p:sp>
      <p:pic>
        <p:nvPicPr>
          <p:cNvPr id="12" name="Image 0" descr="preencoded.png">    </p:cNvPr>
          <p:cNvPicPr>
            <a:picLocks noChangeAspect="1"/>
          </p:cNvPicPr>
          <p:nvPr/>
        </p:nvPicPr>
        <p:blipFill>
          <a:blip r:embed="rId2"/>
          <a:stretch>
            <a:fillRect/>
          </a:stretch>
        </p:blipFill>
        <p:spPr>
          <a:xfrm>
            <a:off x="749808" y="3072384"/>
            <a:ext cx="274320" cy="274320"/>
          </a:xfrm>
          <a:prstGeom prst="rect">
            <a:avLst/>
          </a:prstGeom>
        </p:spPr>
      </p:pic>
      <p:sp>
        <p:nvSpPr>
          <p:cNvPr id="13" name="Shape 10"/>
          <p:cNvSpPr/>
          <p:nvPr/>
        </p:nvSpPr>
        <p:spPr>
          <a:xfrm>
            <a:off x="1097280" y="3054096"/>
            <a:ext cx="5212080" cy="566928"/>
          </a:xfrm>
          <a:prstGeom prst="roundRect">
            <a:avLst>
              <a:gd name="adj" fmla="val 19355"/>
            </a:avLst>
          </a:prstGeom>
          <a:solidFill>
            <a:srgbClr val="102447">
              <a:alpha val="95000"/>
            </a:srgbClr>
          </a:solidFill>
          <a:ln w="9525">
            <a:solidFill>
              <a:srgbClr val="22D3EE">
                <a:alpha val="50000"/>
              </a:srgbClr>
            </a:solidFill>
            <a:prstDash val="solid"/>
          </a:ln>
        </p:spPr>
      </p:sp>
      <p:sp>
        <p:nvSpPr>
          <p:cNvPr id="14" name="Text 11"/>
          <p:cNvSpPr txBox="1"/>
          <p:nvPr/>
        </p:nvSpPr>
        <p:spPr>
          <a:xfrm>
            <a:off x="1234440" y="3054096"/>
            <a:ext cx="4937760" cy="566928"/>
          </a:xfrm>
          <a:prstGeom prst="rect">
            <a:avLst/>
          </a:prstGeom>
          <a:noFill/>
          <a:ln/>
        </p:spPr>
        <p:txBody>
          <a:bodyPr wrap="square" lIns="0" tIns="0" rIns="0" bIns="0" rtlCol="0" anchor="ctr"/>
          <a:lstStyle/>
          <a:p>
            <a:pPr indent="0" marL="0">
              <a:buNone/>
            </a:pPr>
            <a:r>
              <a:rPr lang="en-US" sz="1250" dirty="0">
                <a:solidFill>
                  <a:srgbClr val="9FB0C8"/>
                </a:solidFill>
                <a:latin typeface="Calibri" pitchFamily="34" charset="0"/>
                <a:ea typeface="Calibri" pitchFamily="34" charset="-122"/>
                <a:cs typeface="Calibri" pitchFamily="34" charset="-120"/>
              </a:rPr>
              <a:t>Filtering the Kepler dataset by radius and orbital period… showing matching candidates.</a:t>
            </a:r>
            <a:endParaRPr lang="en-US" sz="1250" dirty="0"/>
          </a:p>
        </p:txBody>
      </p:sp>
      <p:sp>
        <p:nvSpPr>
          <p:cNvPr id="15" name="Shape 12"/>
          <p:cNvSpPr/>
          <p:nvPr/>
        </p:nvSpPr>
        <p:spPr>
          <a:xfrm>
            <a:off x="1097280" y="3730752"/>
            <a:ext cx="2514600" cy="1097280"/>
          </a:xfrm>
          <a:prstGeom prst="roundRect">
            <a:avLst>
              <a:gd name="adj" fmla="val 8333"/>
            </a:avLst>
          </a:prstGeom>
          <a:solidFill>
            <a:srgbClr val="0A1B3A"/>
          </a:solidFill>
          <a:ln w="9525">
            <a:solidFill>
              <a:srgbClr val="22D3EE">
                <a:alpha val="60000"/>
              </a:srgbClr>
            </a:solidFill>
            <a:prstDash val="solid"/>
          </a:ln>
        </p:spPr>
      </p:sp>
      <p:sp>
        <p:nvSpPr>
          <p:cNvPr id="16" name="Text 13"/>
          <p:cNvSpPr txBox="1"/>
          <p:nvPr/>
        </p:nvSpPr>
        <p:spPr>
          <a:xfrm>
            <a:off x="1234440" y="3803904"/>
            <a:ext cx="2286000" cy="201168"/>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PLANET CANDIDATE</a:t>
            </a:r>
            <a:endParaRPr lang="en-US" sz="1000" dirty="0"/>
          </a:p>
        </p:txBody>
      </p:sp>
      <p:sp>
        <p:nvSpPr>
          <p:cNvPr id="17" name="Text 14"/>
          <p:cNvSpPr txBox="1"/>
          <p:nvPr/>
        </p:nvSpPr>
        <p:spPr>
          <a:xfrm>
            <a:off x="1234440" y="4041648"/>
            <a:ext cx="2286000" cy="731520"/>
          </a:xfrm>
          <a:prstGeom prst="rect">
            <a:avLst/>
          </a:prstGeom>
          <a:noFill/>
          <a:ln/>
        </p:spPr>
        <p:txBody>
          <a:bodyPr wrap="square" lIns="0" tIns="0" rIns="0" bIns="0" rtlCol="0" anchor="t"/>
          <a:lstStyle/>
          <a:p>
            <a:pPr indent="0" marL="0">
              <a:spcAft>
                <a:spcPts val="200"/>
              </a:spcAft>
              <a:buNone/>
            </a:pPr>
            <a:r>
              <a:rPr lang="en-US" sz="1250" dirty="0">
                <a:solidFill>
                  <a:srgbClr val="F1F5F9"/>
                </a:solidFill>
                <a:latin typeface="Calibri" pitchFamily="34" charset="0"/>
                <a:ea typeface="Calibri" pitchFamily="34" charset="-122"/>
                <a:cs typeface="Calibri" pitchFamily="34" charset="-120"/>
              </a:rPr>
              <a:t>Radius: 1.2 R⊕</a:t>
            </a:r>
            <a:endParaRPr lang="en-US" sz="1250" dirty="0"/>
          </a:p>
          <a:p>
            <a:pPr indent="0" marL="0">
              <a:spcAft>
                <a:spcPts val="200"/>
              </a:spcAft>
              <a:buNone/>
            </a:pPr>
            <a:r>
              <a:rPr lang="en-US" sz="1250" dirty="0">
                <a:solidFill>
                  <a:srgbClr val="F1F5F9"/>
                </a:solidFill>
                <a:latin typeface="Calibri" pitchFamily="34" charset="0"/>
                <a:ea typeface="Calibri" pitchFamily="34" charset="-122"/>
                <a:cs typeface="Calibri" pitchFamily="34" charset="-120"/>
              </a:rPr>
              <a:t>Orbital Period: 25.4 days</a:t>
            </a:r>
            <a:endParaRPr lang="en-US" sz="1250" dirty="0"/>
          </a:p>
          <a:p>
            <a:pPr indent="0" marL="0">
              <a:spcAft>
                <a:spcPts val="200"/>
              </a:spcAft>
              <a:buNone/>
            </a:pPr>
            <a:r>
              <a:rPr lang="en-US" sz="1250" dirty="0">
                <a:solidFill>
                  <a:srgbClr val="F1F5F9"/>
                </a:solidFill>
                <a:latin typeface="Calibri" pitchFamily="34" charset="0"/>
                <a:ea typeface="Calibri" pitchFamily="34" charset="-122"/>
                <a:cs typeface="Calibri" pitchFamily="34" charset="-120"/>
              </a:rPr>
              <a:t>Temperature: 280 K</a:t>
            </a:r>
            <a:endParaRPr lang="en-US" sz="1250" dirty="0"/>
          </a:p>
        </p:txBody>
      </p:sp>
      <p:sp>
        <p:nvSpPr>
          <p:cNvPr id="18" name="Shape 15"/>
          <p:cNvSpPr/>
          <p:nvPr/>
        </p:nvSpPr>
        <p:spPr>
          <a:xfrm>
            <a:off x="3749040" y="3730752"/>
            <a:ext cx="2560320" cy="1097280"/>
          </a:xfrm>
          <a:prstGeom prst="roundRect">
            <a:avLst>
              <a:gd name="adj" fmla="val 8333"/>
            </a:avLst>
          </a:prstGeom>
          <a:solidFill>
            <a:srgbClr val="0A1B3A"/>
          </a:solidFill>
          <a:ln w="9525">
            <a:solidFill>
              <a:srgbClr val="F5C26B">
                <a:alpha val="60000"/>
              </a:srgbClr>
            </a:solidFill>
            <a:prstDash val="solid"/>
          </a:ln>
        </p:spPr>
      </p:sp>
      <p:sp>
        <p:nvSpPr>
          <p:cNvPr id="19" name="Text 16"/>
          <p:cNvSpPr txBox="1"/>
          <p:nvPr/>
        </p:nvSpPr>
        <p:spPr>
          <a:xfrm>
            <a:off x="3886200" y="3803904"/>
            <a:ext cx="2286000" cy="201168"/>
          </a:xfrm>
          <a:prstGeom prst="rect">
            <a:avLst/>
          </a:prstGeom>
          <a:noFill/>
          <a:ln/>
        </p:spPr>
        <p:txBody>
          <a:bodyPr wrap="square" lIns="0" tIns="0" rIns="0" bIns="0" rtlCol="0" anchor="t"/>
          <a:lstStyle/>
          <a:p>
            <a:pPr indent="0" marL="0">
              <a:buNone/>
            </a:pPr>
            <a:r>
              <a:rPr lang="en-US" sz="1000" b="1" spc="200" kern="0" dirty="0">
                <a:solidFill>
                  <a:srgbClr val="F5C26B"/>
                </a:solidFill>
                <a:latin typeface="Calibri" pitchFamily="34" charset="0"/>
                <a:ea typeface="Calibri" pitchFamily="34" charset="-122"/>
                <a:cs typeface="Calibri" pitchFamily="34" charset="-120"/>
              </a:rPr>
              <a:t>HOST STAR</a:t>
            </a:r>
            <a:endParaRPr lang="en-US" sz="1000" dirty="0"/>
          </a:p>
        </p:txBody>
      </p:sp>
      <p:sp>
        <p:nvSpPr>
          <p:cNvPr id="20" name="Text 17"/>
          <p:cNvSpPr txBox="1"/>
          <p:nvPr/>
        </p:nvSpPr>
        <p:spPr>
          <a:xfrm>
            <a:off x="3886200" y="4041648"/>
            <a:ext cx="2331720" cy="731520"/>
          </a:xfrm>
          <a:prstGeom prst="rect">
            <a:avLst/>
          </a:prstGeom>
          <a:noFill/>
          <a:ln/>
        </p:spPr>
        <p:txBody>
          <a:bodyPr wrap="square" lIns="0" tIns="0" rIns="0" bIns="0" rtlCol="0" anchor="t"/>
          <a:lstStyle/>
          <a:p>
            <a:pPr indent="0" marL="0">
              <a:spcAft>
                <a:spcPts val="200"/>
              </a:spcAft>
              <a:buNone/>
            </a:pPr>
            <a:r>
              <a:rPr lang="en-US" sz="1250" i="1" dirty="0">
                <a:solidFill>
                  <a:srgbClr val="9FB0C8"/>
                </a:solidFill>
                <a:latin typeface="Calibri" pitchFamily="34" charset="0"/>
                <a:ea typeface="Calibri" pitchFamily="34" charset="-122"/>
                <a:cs typeface="Calibri" pitchFamily="34" charset="-120"/>
              </a:rPr>
              <a:t>Temperature: from dataset</a:t>
            </a:r>
            <a:endParaRPr lang="en-US" sz="1250" dirty="0"/>
          </a:p>
          <a:p>
            <a:pPr indent="0" marL="0">
              <a:spcAft>
                <a:spcPts val="200"/>
              </a:spcAft>
              <a:buNone/>
            </a:pPr>
            <a:r>
              <a:rPr lang="en-US" sz="1250" i="1" dirty="0">
                <a:solidFill>
                  <a:srgbClr val="9FB0C8"/>
                </a:solidFill>
                <a:latin typeface="Calibri" pitchFamily="34" charset="0"/>
                <a:ea typeface="Calibri" pitchFamily="34" charset="-122"/>
                <a:cs typeface="Calibri" pitchFamily="34" charset="-120"/>
              </a:rPr>
              <a:t>Radius: from dataset</a:t>
            </a:r>
            <a:endParaRPr lang="en-US" sz="1250" dirty="0"/>
          </a:p>
          <a:p>
            <a:pPr indent="0" marL="0">
              <a:spcAft>
                <a:spcPts val="200"/>
              </a:spcAft>
              <a:buNone/>
            </a:pPr>
            <a:r>
              <a:rPr lang="en-US" sz="1250" i="1" dirty="0">
                <a:solidFill>
                  <a:srgbClr val="9FB0C8"/>
                </a:solidFill>
                <a:latin typeface="Calibri" pitchFamily="34" charset="0"/>
                <a:ea typeface="Calibri" pitchFamily="34" charset="-122"/>
                <a:cs typeface="Calibri" pitchFamily="34" charset="-120"/>
              </a:rPr>
              <a:t>Surface Gravity: from dataset</a:t>
            </a:r>
            <a:endParaRPr lang="en-US" sz="1250" dirty="0"/>
          </a:p>
        </p:txBody>
      </p:sp>
      <p:sp>
        <p:nvSpPr>
          <p:cNvPr id="21" name="Shape 18"/>
          <p:cNvSpPr/>
          <p:nvPr/>
        </p:nvSpPr>
        <p:spPr>
          <a:xfrm>
            <a:off x="749808" y="4983480"/>
            <a:ext cx="5541264" cy="502920"/>
          </a:xfrm>
          <a:prstGeom prst="roundRect">
            <a:avLst>
              <a:gd name="adj" fmla="val 49091"/>
            </a:avLst>
          </a:prstGeom>
          <a:solidFill>
            <a:srgbClr val="060F24"/>
          </a:solidFill>
          <a:ln w="9525">
            <a:solidFill>
              <a:srgbClr val="2B4B7E">
                <a:alpha val="70000"/>
              </a:srgbClr>
            </a:solidFill>
            <a:prstDash val="solid"/>
          </a:ln>
        </p:spPr>
      </p:sp>
      <p:sp>
        <p:nvSpPr>
          <p:cNvPr id="22" name="Text 19"/>
          <p:cNvSpPr txBox="1"/>
          <p:nvPr/>
        </p:nvSpPr>
        <p:spPr>
          <a:xfrm>
            <a:off x="960120" y="4983480"/>
            <a:ext cx="4754880" cy="50292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Give me the details of this candidate and its host star.</a:t>
            </a:r>
            <a:endParaRPr lang="en-US" sz="1300" dirty="0"/>
          </a:p>
        </p:txBody>
      </p:sp>
      <p:pic>
        <p:nvPicPr>
          <p:cNvPr id="23" name="Image 1" descr="preencoded.png">    </p:cNvPr>
          <p:cNvPicPr>
            <a:picLocks noChangeAspect="1"/>
          </p:cNvPicPr>
          <p:nvPr/>
        </p:nvPicPr>
        <p:blipFill>
          <a:blip r:embed="rId3"/>
          <a:stretch>
            <a:fillRect/>
          </a:stretch>
        </p:blipFill>
        <p:spPr>
          <a:xfrm>
            <a:off x="5897880" y="5102352"/>
            <a:ext cx="256032" cy="256032"/>
          </a:xfrm>
          <a:prstGeom prst="rect">
            <a:avLst/>
          </a:prstGeom>
        </p:spPr>
      </p:pic>
      <p:sp>
        <p:nvSpPr>
          <p:cNvPr id="24" name="Shape 20"/>
          <p:cNvSpPr/>
          <p:nvPr/>
        </p:nvSpPr>
        <p:spPr>
          <a:xfrm>
            <a:off x="6949440" y="1828800"/>
            <a:ext cx="4690872" cy="548640"/>
          </a:xfrm>
          <a:prstGeom prst="roundRect">
            <a:avLst>
              <a:gd name="adj" fmla="val 16667"/>
            </a:avLst>
          </a:prstGeom>
          <a:solidFill>
            <a:srgbClr val="0B1630">
              <a:alpha val="85000"/>
            </a:srgbClr>
          </a:solidFill>
          <a:ln w="9525">
            <a:solidFill>
              <a:srgbClr val="22D3EE">
                <a:alpha val="55000"/>
              </a:srgbClr>
            </a:solidFill>
            <a:prstDash val="solid"/>
          </a:ln>
        </p:spPr>
      </p:sp>
      <p:sp>
        <p:nvSpPr>
          <p:cNvPr id="25" name="Shape 21"/>
          <p:cNvSpPr/>
          <p:nvPr/>
        </p:nvSpPr>
        <p:spPr>
          <a:xfrm>
            <a:off x="7059168" y="1897380"/>
            <a:ext cx="411480" cy="411480"/>
          </a:xfrm>
          <a:prstGeom prst="ellipse">
            <a:avLst/>
          </a:prstGeom>
          <a:solidFill>
            <a:srgbClr val="22D3EE">
              <a:alpha val="20000"/>
            </a:srgbClr>
          </a:solidFill>
          <a:ln w="12700">
            <a:solidFill>
              <a:srgbClr val="22D3EE">
                <a:alpha val="75000"/>
              </a:srgbClr>
            </a:solidFill>
            <a:prstDash val="solid"/>
          </a:ln>
        </p:spPr>
      </p:sp>
      <p:pic>
        <p:nvPicPr>
          <p:cNvPr id="26" name="Image 2" descr="preencoded.png">    </p:cNvPr>
          <p:cNvPicPr>
            <a:picLocks noChangeAspect="1"/>
          </p:cNvPicPr>
          <p:nvPr/>
        </p:nvPicPr>
        <p:blipFill>
          <a:blip r:embed="rId4"/>
          <a:stretch>
            <a:fillRect/>
          </a:stretch>
        </p:blipFill>
        <p:spPr>
          <a:xfrm>
            <a:off x="7170268" y="2008480"/>
            <a:ext cx="189281" cy="189281"/>
          </a:xfrm>
          <a:prstGeom prst="rect">
            <a:avLst/>
          </a:prstGeom>
        </p:spPr>
      </p:pic>
      <p:sp>
        <p:nvSpPr>
          <p:cNvPr id="27" name="Text 22"/>
          <p:cNvSpPr txBox="1"/>
          <p:nvPr/>
        </p:nvSpPr>
        <p:spPr>
          <a:xfrm>
            <a:off x="7635240" y="1828800"/>
            <a:ext cx="3840480" cy="548640"/>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Natural Language Question</a:t>
            </a:r>
            <a:endParaRPr lang="en-US" sz="1550" dirty="0"/>
          </a:p>
        </p:txBody>
      </p:sp>
      <p:sp>
        <p:nvSpPr>
          <p:cNvPr id="28" name="Shape 23"/>
          <p:cNvSpPr/>
          <p:nvPr/>
        </p:nvSpPr>
        <p:spPr>
          <a:xfrm>
            <a:off x="9189720" y="2414016"/>
            <a:ext cx="219456" cy="201168"/>
          </a:xfrm>
          <a:prstGeom prst="downArrow">
            <a:avLst/>
          </a:prstGeom>
          <a:solidFill>
            <a:srgbClr val="22D3EE">
              <a:alpha val="80000"/>
            </a:srgbClr>
          </a:solidFill>
          <a:ln w="3175">
            <a:solidFill>
              <a:srgbClr val="22D3EE"/>
            </a:solidFill>
            <a:prstDash val="solid"/>
          </a:ln>
        </p:spPr>
      </p:sp>
      <p:sp>
        <p:nvSpPr>
          <p:cNvPr id="29" name="Shape 24"/>
          <p:cNvSpPr/>
          <p:nvPr/>
        </p:nvSpPr>
        <p:spPr>
          <a:xfrm>
            <a:off x="6949440" y="2651760"/>
            <a:ext cx="4690872" cy="548640"/>
          </a:xfrm>
          <a:prstGeom prst="roundRect">
            <a:avLst>
              <a:gd name="adj" fmla="val 16667"/>
            </a:avLst>
          </a:prstGeom>
          <a:solidFill>
            <a:srgbClr val="0B1630">
              <a:alpha val="85000"/>
            </a:srgbClr>
          </a:solidFill>
          <a:ln w="9525">
            <a:solidFill>
              <a:srgbClr val="A78BFA">
                <a:alpha val="55000"/>
              </a:srgbClr>
            </a:solidFill>
            <a:prstDash val="solid"/>
          </a:ln>
        </p:spPr>
      </p:sp>
      <p:sp>
        <p:nvSpPr>
          <p:cNvPr id="30" name="Shape 25"/>
          <p:cNvSpPr/>
          <p:nvPr/>
        </p:nvSpPr>
        <p:spPr>
          <a:xfrm>
            <a:off x="7059168" y="2720340"/>
            <a:ext cx="411480" cy="411480"/>
          </a:xfrm>
          <a:prstGeom prst="ellipse">
            <a:avLst/>
          </a:prstGeom>
          <a:solidFill>
            <a:srgbClr val="A78BFA">
              <a:alpha val="20000"/>
            </a:srgbClr>
          </a:solidFill>
          <a:ln w="12700">
            <a:solidFill>
              <a:srgbClr val="A78BFA">
                <a:alpha val="75000"/>
              </a:srgbClr>
            </a:solidFill>
            <a:prstDash val="solid"/>
          </a:ln>
        </p:spPr>
      </p:sp>
      <p:pic>
        <p:nvPicPr>
          <p:cNvPr id="31" name="Image 3" descr="preencoded.png">    </p:cNvPr>
          <p:cNvPicPr>
            <a:picLocks noChangeAspect="1"/>
          </p:cNvPicPr>
          <p:nvPr/>
        </p:nvPicPr>
        <p:blipFill>
          <a:blip r:embed="rId5"/>
          <a:stretch>
            <a:fillRect/>
          </a:stretch>
        </p:blipFill>
        <p:spPr>
          <a:xfrm>
            <a:off x="7170268" y="2831440"/>
            <a:ext cx="189281" cy="189281"/>
          </a:xfrm>
          <a:prstGeom prst="rect">
            <a:avLst/>
          </a:prstGeom>
        </p:spPr>
      </p:pic>
      <p:sp>
        <p:nvSpPr>
          <p:cNvPr id="32" name="Text 26"/>
          <p:cNvSpPr txBox="1"/>
          <p:nvPr/>
        </p:nvSpPr>
        <p:spPr>
          <a:xfrm>
            <a:off x="7635240" y="2651760"/>
            <a:ext cx="3840480" cy="548640"/>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AI Understanding</a:t>
            </a:r>
            <a:endParaRPr lang="en-US" sz="1550" dirty="0"/>
          </a:p>
        </p:txBody>
      </p:sp>
      <p:sp>
        <p:nvSpPr>
          <p:cNvPr id="33" name="Shape 27"/>
          <p:cNvSpPr/>
          <p:nvPr/>
        </p:nvSpPr>
        <p:spPr>
          <a:xfrm>
            <a:off x="9189720" y="3236976"/>
            <a:ext cx="219456" cy="201168"/>
          </a:xfrm>
          <a:prstGeom prst="downArrow">
            <a:avLst/>
          </a:prstGeom>
          <a:solidFill>
            <a:srgbClr val="22D3EE">
              <a:alpha val="80000"/>
            </a:srgbClr>
          </a:solidFill>
          <a:ln w="3175">
            <a:solidFill>
              <a:srgbClr val="22D3EE"/>
            </a:solidFill>
            <a:prstDash val="solid"/>
          </a:ln>
        </p:spPr>
      </p:sp>
      <p:sp>
        <p:nvSpPr>
          <p:cNvPr id="34" name="Shape 28"/>
          <p:cNvSpPr/>
          <p:nvPr/>
        </p:nvSpPr>
        <p:spPr>
          <a:xfrm>
            <a:off x="6949440" y="3474720"/>
            <a:ext cx="4690872" cy="548640"/>
          </a:xfrm>
          <a:prstGeom prst="roundRect">
            <a:avLst>
              <a:gd name="adj" fmla="val 16667"/>
            </a:avLst>
          </a:prstGeom>
          <a:solidFill>
            <a:srgbClr val="0B1630">
              <a:alpha val="85000"/>
            </a:srgbClr>
          </a:solidFill>
          <a:ln w="9525">
            <a:solidFill>
              <a:srgbClr val="22D3EE">
                <a:alpha val="55000"/>
              </a:srgbClr>
            </a:solidFill>
            <a:prstDash val="solid"/>
          </a:ln>
        </p:spPr>
      </p:sp>
      <p:sp>
        <p:nvSpPr>
          <p:cNvPr id="35" name="Shape 29"/>
          <p:cNvSpPr/>
          <p:nvPr/>
        </p:nvSpPr>
        <p:spPr>
          <a:xfrm>
            <a:off x="7059168" y="3543300"/>
            <a:ext cx="411480" cy="411480"/>
          </a:xfrm>
          <a:prstGeom prst="ellipse">
            <a:avLst/>
          </a:prstGeom>
          <a:solidFill>
            <a:srgbClr val="22D3EE">
              <a:alpha val="20000"/>
            </a:srgbClr>
          </a:solidFill>
          <a:ln w="12700">
            <a:solidFill>
              <a:srgbClr val="22D3EE">
                <a:alpha val="75000"/>
              </a:srgbClr>
            </a:solidFill>
            <a:prstDash val="solid"/>
          </a:ln>
        </p:spPr>
      </p:sp>
      <p:pic>
        <p:nvPicPr>
          <p:cNvPr id="36" name="Image 4" descr="preencoded.png">    </p:cNvPr>
          <p:cNvPicPr>
            <a:picLocks noChangeAspect="1"/>
          </p:cNvPicPr>
          <p:nvPr/>
        </p:nvPicPr>
        <p:blipFill>
          <a:blip r:embed="rId6"/>
          <a:stretch>
            <a:fillRect/>
          </a:stretch>
        </p:blipFill>
        <p:spPr>
          <a:xfrm>
            <a:off x="7170268" y="3654400"/>
            <a:ext cx="189281" cy="189281"/>
          </a:xfrm>
          <a:prstGeom prst="rect">
            <a:avLst/>
          </a:prstGeom>
        </p:spPr>
      </p:pic>
      <p:sp>
        <p:nvSpPr>
          <p:cNvPr id="37" name="Text 30"/>
          <p:cNvSpPr txBox="1"/>
          <p:nvPr/>
        </p:nvSpPr>
        <p:spPr>
          <a:xfrm>
            <a:off x="7635240" y="3474720"/>
            <a:ext cx="3840480" cy="548640"/>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Dataset Search / Filtering</a:t>
            </a:r>
            <a:endParaRPr lang="en-US" sz="1550" dirty="0"/>
          </a:p>
        </p:txBody>
      </p:sp>
      <p:sp>
        <p:nvSpPr>
          <p:cNvPr id="38" name="Shape 31"/>
          <p:cNvSpPr/>
          <p:nvPr/>
        </p:nvSpPr>
        <p:spPr>
          <a:xfrm>
            <a:off x="9189720" y="4059936"/>
            <a:ext cx="219456" cy="201168"/>
          </a:xfrm>
          <a:prstGeom prst="downArrow">
            <a:avLst/>
          </a:prstGeom>
          <a:solidFill>
            <a:srgbClr val="22D3EE">
              <a:alpha val="80000"/>
            </a:srgbClr>
          </a:solidFill>
          <a:ln w="3175">
            <a:solidFill>
              <a:srgbClr val="22D3EE"/>
            </a:solidFill>
            <a:prstDash val="solid"/>
          </a:ln>
        </p:spPr>
      </p:sp>
      <p:sp>
        <p:nvSpPr>
          <p:cNvPr id="39" name="Shape 32"/>
          <p:cNvSpPr/>
          <p:nvPr/>
        </p:nvSpPr>
        <p:spPr>
          <a:xfrm>
            <a:off x="6949440" y="4297680"/>
            <a:ext cx="4690872" cy="548640"/>
          </a:xfrm>
          <a:prstGeom prst="roundRect">
            <a:avLst>
              <a:gd name="adj" fmla="val 16667"/>
            </a:avLst>
          </a:prstGeom>
          <a:solidFill>
            <a:srgbClr val="0B1630">
              <a:alpha val="85000"/>
            </a:srgbClr>
          </a:solidFill>
          <a:ln w="9525">
            <a:solidFill>
              <a:srgbClr val="F5C26B">
                <a:alpha val="55000"/>
              </a:srgbClr>
            </a:solidFill>
            <a:prstDash val="solid"/>
          </a:ln>
        </p:spPr>
      </p:sp>
      <p:sp>
        <p:nvSpPr>
          <p:cNvPr id="40" name="Shape 33"/>
          <p:cNvSpPr/>
          <p:nvPr/>
        </p:nvSpPr>
        <p:spPr>
          <a:xfrm>
            <a:off x="7059168" y="4366260"/>
            <a:ext cx="411480" cy="411480"/>
          </a:xfrm>
          <a:prstGeom prst="ellipse">
            <a:avLst/>
          </a:prstGeom>
          <a:solidFill>
            <a:srgbClr val="F5C26B">
              <a:alpha val="20000"/>
            </a:srgbClr>
          </a:solidFill>
          <a:ln w="12700">
            <a:solidFill>
              <a:srgbClr val="F5C26B">
                <a:alpha val="75000"/>
              </a:srgbClr>
            </a:solidFill>
            <a:prstDash val="solid"/>
          </a:ln>
        </p:spPr>
      </p:sp>
      <p:pic>
        <p:nvPicPr>
          <p:cNvPr id="41" name="Image 5" descr="preencoded.png">    </p:cNvPr>
          <p:cNvPicPr>
            <a:picLocks noChangeAspect="1"/>
          </p:cNvPicPr>
          <p:nvPr/>
        </p:nvPicPr>
        <p:blipFill>
          <a:blip r:embed="rId7"/>
          <a:stretch>
            <a:fillRect/>
          </a:stretch>
        </p:blipFill>
        <p:spPr>
          <a:xfrm>
            <a:off x="7170268" y="4477360"/>
            <a:ext cx="189281" cy="189281"/>
          </a:xfrm>
          <a:prstGeom prst="rect">
            <a:avLst/>
          </a:prstGeom>
        </p:spPr>
      </p:pic>
      <p:sp>
        <p:nvSpPr>
          <p:cNvPr id="42" name="Text 34"/>
          <p:cNvSpPr txBox="1"/>
          <p:nvPr/>
        </p:nvSpPr>
        <p:spPr>
          <a:xfrm>
            <a:off x="7635240" y="4297680"/>
            <a:ext cx="3840480" cy="548640"/>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Relevant Kepler Candidates</a:t>
            </a:r>
            <a:endParaRPr lang="en-US" sz="1550" dirty="0"/>
          </a:p>
        </p:txBody>
      </p:sp>
      <p:sp>
        <p:nvSpPr>
          <p:cNvPr id="43" name="Shape 35"/>
          <p:cNvSpPr/>
          <p:nvPr/>
        </p:nvSpPr>
        <p:spPr>
          <a:xfrm>
            <a:off x="9189720" y="4882896"/>
            <a:ext cx="219456" cy="201168"/>
          </a:xfrm>
          <a:prstGeom prst="downArrow">
            <a:avLst/>
          </a:prstGeom>
          <a:solidFill>
            <a:srgbClr val="22D3EE">
              <a:alpha val="80000"/>
            </a:srgbClr>
          </a:solidFill>
          <a:ln w="3175">
            <a:solidFill>
              <a:srgbClr val="22D3EE"/>
            </a:solidFill>
            <a:prstDash val="solid"/>
          </a:ln>
        </p:spPr>
      </p:sp>
      <p:sp>
        <p:nvSpPr>
          <p:cNvPr id="44" name="Shape 36"/>
          <p:cNvSpPr/>
          <p:nvPr/>
        </p:nvSpPr>
        <p:spPr>
          <a:xfrm>
            <a:off x="6949440" y="5120640"/>
            <a:ext cx="4690872" cy="548640"/>
          </a:xfrm>
          <a:prstGeom prst="roundRect">
            <a:avLst>
              <a:gd name="adj" fmla="val 16667"/>
            </a:avLst>
          </a:prstGeom>
          <a:solidFill>
            <a:srgbClr val="0B1630">
              <a:alpha val="85000"/>
            </a:srgbClr>
          </a:solidFill>
          <a:ln w="9525">
            <a:solidFill>
              <a:srgbClr val="22D3EE">
                <a:alpha val="55000"/>
              </a:srgbClr>
            </a:solidFill>
            <a:prstDash val="solid"/>
          </a:ln>
        </p:spPr>
      </p:sp>
      <p:sp>
        <p:nvSpPr>
          <p:cNvPr id="45" name="Shape 37"/>
          <p:cNvSpPr/>
          <p:nvPr/>
        </p:nvSpPr>
        <p:spPr>
          <a:xfrm>
            <a:off x="7059168" y="5189220"/>
            <a:ext cx="411480" cy="411480"/>
          </a:xfrm>
          <a:prstGeom prst="ellipse">
            <a:avLst/>
          </a:prstGeom>
          <a:solidFill>
            <a:srgbClr val="22D3EE">
              <a:alpha val="20000"/>
            </a:srgbClr>
          </a:solidFill>
          <a:ln w="12700">
            <a:solidFill>
              <a:srgbClr val="22D3EE">
                <a:alpha val="75000"/>
              </a:srgbClr>
            </a:solidFill>
            <a:prstDash val="solid"/>
          </a:ln>
        </p:spPr>
      </p:sp>
      <p:pic>
        <p:nvPicPr>
          <p:cNvPr id="46" name="Image 6" descr="preencoded.png">    </p:cNvPr>
          <p:cNvPicPr>
            <a:picLocks noChangeAspect="1"/>
          </p:cNvPicPr>
          <p:nvPr/>
        </p:nvPicPr>
        <p:blipFill>
          <a:blip r:embed="rId8"/>
          <a:stretch>
            <a:fillRect/>
          </a:stretch>
        </p:blipFill>
        <p:spPr>
          <a:xfrm>
            <a:off x="7170268" y="5300320"/>
            <a:ext cx="189281" cy="189281"/>
          </a:xfrm>
          <a:prstGeom prst="rect">
            <a:avLst/>
          </a:prstGeom>
        </p:spPr>
      </p:pic>
      <p:sp>
        <p:nvSpPr>
          <p:cNvPr id="47" name="Text 38"/>
          <p:cNvSpPr txBox="1"/>
          <p:nvPr/>
        </p:nvSpPr>
        <p:spPr>
          <a:xfrm>
            <a:off x="7635240" y="5120640"/>
            <a:ext cx="3840480" cy="548640"/>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Human-Readable Insights</a:t>
            </a:r>
            <a:endParaRPr lang="en-US" sz="1550" dirty="0"/>
          </a:p>
        </p:txBody>
      </p:sp>
      <p:sp>
        <p:nvSpPr>
          <p:cNvPr id="48" name="Shape 39"/>
          <p:cNvSpPr/>
          <p:nvPr/>
        </p:nvSpPr>
        <p:spPr>
          <a:xfrm>
            <a:off x="548640" y="5852160"/>
            <a:ext cx="2103120" cy="411480"/>
          </a:xfrm>
          <a:prstGeom prst="roundRect">
            <a:avLst>
              <a:gd name="adj" fmla="val 50000"/>
            </a:avLst>
          </a:prstGeom>
          <a:solidFill>
            <a:srgbClr val="22D3EE">
              <a:alpha val="18000"/>
            </a:srgbClr>
          </a:solidFill>
          <a:ln w="9525">
            <a:solidFill>
              <a:srgbClr val="22D3EE">
                <a:alpha val="70000"/>
              </a:srgbClr>
            </a:solidFill>
            <a:prstDash val="solid"/>
          </a:ln>
        </p:spPr>
      </p:sp>
      <p:sp>
        <p:nvSpPr>
          <p:cNvPr id="49" name="Text 40"/>
          <p:cNvSpPr txBox="1"/>
          <p:nvPr/>
        </p:nvSpPr>
        <p:spPr>
          <a:xfrm>
            <a:off x="548640" y="5852160"/>
            <a:ext cx="2103120" cy="411480"/>
          </a:xfrm>
          <a:prstGeom prst="rect">
            <a:avLst/>
          </a:prstGeom>
          <a:noFill/>
          <a:ln/>
        </p:spPr>
        <p:txBody>
          <a:bodyPr wrap="square" lIns="0" tIns="0" rIns="0" bIns="0" rtlCol="0" anchor="ctr"/>
          <a:lstStyle/>
          <a:p>
            <a:pPr algn="ctr" indent="0" marL="0">
              <a:buNone/>
            </a:pPr>
            <a:r>
              <a:rPr lang="en-US" sz="1150" b="1" dirty="0">
                <a:solidFill>
                  <a:srgbClr val="F1F5F9"/>
                </a:solidFill>
                <a:latin typeface="Calibri" pitchFamily="34" charset="0"/>
                <a:ea typeface="Calibri" pitchFamily="34" charset="-122"/>
                <a:cs typeface="Calibri" pitchFamily="34" charset="-120"/>
              </a:rPr>
              <a:t>Natural-language interaction</a:t>
            </a:r>
            <a:endParaRPr lang="en-US" sz="1150" dirty="0"/>
          </a:p>
        </p:txBody>
      </p:sp>
      <p:sp>
        <p:nvSpPr>
          <p:cNvPr id="50" name="Shape 41"/>
          <p:cNvSpPr/>
          <p:nvPr/>
        </p:nvSpPr>
        <p:spPr>
          <a:xfrm>
            <a:off x="2788920" y="5852160"/>
            <a:ext cx="2103120" cy="411480"/>
          </a:xfrm>
          <a:prstGeom prst="roundRect">
            <a:avLst>
              <a:gd name="adj" fmla="val 50000"/>
            </a:avLst>
          </a:prstGeom>
          <a:solidFill>
            <a:srgbClr val="60A5FA">
              <a:alpha val="18000"/>
            </a:srgbClr>
          </a:solidFill>
          <a:ln w="9525">
            <a:solidFill>
              <a:srgbClr val="60A5FA">
                <a:alpha val="70000"/>
              </a:srgbClr>
            </a:solidFill>
            <a:prstDash val="solid"/>
          </a:ln>
        </p:spPr>
      </p:sp>
      <p:sp>
        <p:nvSpPr>
          <p:cNvPr id="51" name="Text 42"/>
          <p:cNvSpPr txBox="1"/>
          <p:nvPr/>
        </p:nvSpPr>
        <p:spPr>
          <a:xfrm>
            <a:off x="2788920" y="5852160"/>
            <a:ext cx="2103120" cy="411480"/>
          </a:xfrm>
          <a:prstGeom prst="rect">
            <a:avLst/>
          </a:prstGeom>
          <a:noFill/>
          <a:ln/>
        </p:spPr>
        <p:txBody>
          <a:bodyPr wrap="square" lIns="0" tIns="0" rIns="0" bIns="0" rtlCol="0" anchor="ctr"/>
          <a:lstStyle/>
          <a:p>
            <a:pPr algn="ctr" indent="0" marL="0">
              <a:buNone/>
            </a:pPr>
            <a:r>
              <a:rPr lang="en-US" sz="1150" b="1" dirty="0">
                <a:solidFill>
                  <a:srgbClr val="F1F5F9"/>
                </a:solidFill>
                <a:latin typeface="Calibri" pitchFamily="34" charset="0"/>
                <a:ea typeface="Calibri" pitchFamily="34" charset="-122"/>
                <a:cs typeface="Calibri" pitchFamily="34" charset="-120"/>
              </a:rPr>
              <a:t>Dataset search &amp; filtering</a:t>
            </a:r>
            <a:endParaRPr lang="en-US" sz="1150" dirty="0"/>
          </a:p>
        </p:txBody>
      </p:sp>
      <p:sp>
        <p:nvSpPr>
          <p:cNvPr id="52" name="Shape 43"/>
          <p:cNvSpPr/>
          <p:nvPr/>
        </p:nvSpPr>
        <p:spPr>
          <a:xfrm>
            <a:off x="5029200" y="5852160"/>
            <a:ext cx="2103120" cy="411480"/>
          </a:xfrm>
          <a:prstGeom prst="roundRect">
            <a:avLst>
              <a:gd name="adj" fmla="val 50000"/>
            </a:avLst>
          </a:prstGeom>
          <a:solidFill>
            <a:srgbClr val="A78BFA">
              <a:alpha val="18000"/>
            </a:srgbClr>
          </a:solidFill>
          <a:ln w="9525">
            <a:solidFill>
              <a:srgbClr val="A78BFA">
                <a:alpha val="70000"/>
              </a:srgbClr>
            </a:solidFill>
            <a:prstDash val="solid"/>
          </a:ln>
        </p:spPr>
      </p:sp>
      <p:sp>
        <p:nvSpPr>
          <p:cNvPr id="53" name="Text 44"/>
          <p:cNvSpPr txBox="1"/>
          <p:nvPr/>
        </p:nvSpPr>
        <p:spPr>
          <a:xfrm>
            <a:off x="5029200" y="5852160"/>
            <a:ext cx="2103120" cy="411480"/>
          </a:xfrm>
          <a:prstGeom prst="rect">
            <a:avLst/>
          </a:prstGeom>
          <a:noFill/>
          <a:ln/>
        </p:spPr>
        <p:txBody>
          <a:bodyPr wrap="square" lIns="0" tIns="0" rIns="0" bIns="0" rtlCol="0" anchor="ctr"/>
          <a:lstStyle/>
          <a:p>
            <a:pPr algn="ctr" indent="0" marL="0">
              <a:buNone/>
            </a:pPr>
            <a:r>
              <a:rPr lang="en-US" sz="1150" b="1" dirty="0">
                <a:solidFill>
                  <a:srgbClr val="F1F5F9"/>
                </a:solidFill>
                <a:latin typeface="Calibri" pitchFamily="34" charset="0"/>
                <a:ea typeface="Calibri" pitchFamily="34" charset="-122"/>
                <a:cs typeface="Calibri" pitchFamily="34" charset="-120"/>
              </a:rPr>
              <a:t>Candidate information</a:t>
            </a:r>
            <a:endParaRPr lang="en-US" sz="1150" dirty="0"/>
          </a:p>
        </p:txBody>
      </p:sp>
      <p:sp>
        <p:nvSpPr>
          <p:cNvPr id="54" name="Shape 45"/>
          <p:cNvSpPr/>
          <p:nvPr/>
        </p:nvSpPr>
        <p:spPr>
          <a:xfrm>
            <a:off x="7269480" y="5852160"/>
            <a:ext cx="2103120" cy="411480"/>
          </a:xfrm>
          <a:prstGeom prst="roundRect">
            <a:avLst>
              <a:gd name="adj" fmla="val 50000"/>
            </a:avLst>
          </a:prstGeom>
          <a:solidFill>
            <a:srgbClr val="F5C26B">
              <a:alpha val="18000"/>
            </a:srgbClr>
          </a:solidFill>
          <a:ln w="9525">
            <a:solidFill>
              <a:srgbClr val="F5C26B">
                <a:alpha val="70000"/>
              </a:srgbClr>
            </a:solidFill>
            <a:prstDash val="solid"/>
          </a:ln>
        </p:spPr>
      </p:sp>
      <p:sp>
        <p:nvSpPr>
          <p:cNvPr id="55" name="Text 46"/>
          <p:cNvSpPr txBox="1"/>
          <p:nvPr/>
        </p:nvSpPr>
        <p:spPr>
          <a:xfrm>
            <a:off x="7269480" y="5852160"/>
            <a:ext cx="2103120" cy="411480"/>
          </a:xfrm>
          <a:prstGeom prst="rect">
            <a:avLst/>
          </a:prstGeom>
          <a:noFill/>
          <a:ln/>
        </p:spPr>
        <p:txBody>
          <a:bodyPr wrap="square" lIns="0" tIns="0" rIns="0" bIns="0" rtlCol="0" anchor="ctr"/>
          <a:lstStyle/>
          <a:p>
            <a:pPr algn="ctr" indent="0" marL="0">
              <a:buNone/>
            </a:pPr>
            <a:r>
              <a:rPr lang="en-US" sz="1150" b="1" dirty="0">
                <a:solidFill>
                  <a:srgbClr val="F1F5F9"/>
                </a:solidFill>
                <a:latin typeface="Calibri" pitchFamily="34" charset="0"/>
                <a:ea typeface="Calibri" pitchFamily="34" charset="-122"/>
                <a:cs typeface="Calibri" pitchFamily="34" charset="-120"/>
              </a:rPr>
              <a:t>Host-star information</a:t>
            </a:r>
            <a:endParaRPr lang="en-US" sz="1150" dirty="0"/>
          </a:p>
        </p:txBody>
      </p:sp>
      <p:sp>
        <p:nvSpPr>
          <p:cNvPr id="56" name="Shape 47"/>
          <p:cNvSpPr/>
          <p:nvPr/>
        </p:nvSpPr>
        <p:spPr>
          <a:xfrm>
            <a:off x="9509760" y="5852160"/>
            <a:ext cx="2103120" cy="411480"/>
          </a:xfrm>
          <a:prstGeom prst="roundRect">
            <a:avLst>
              <a:gd name="adj" fmla="val 50000"/>
            </a:avLst>
          </a:prstGeom>
          <a:solidFill>
            <a:srgbClr val="22D3EE">
              <a:alpha val="18000"/>
            </a:srgbClr>
          </a:solidFill>
          <a:ln w="9525">
            <a:solidFill>
              <a:srgbClr val="22D3EE">
                <a:alpha val="70000"/>
              </a:srgbClr>
            </a:solidFill>
            <a:prstDash val="solid"/>
          </a:ln>
        </p:spPr>
      </p:sp>
      <p:sp>
        <p:nvSpPr>
          <p:cNvPr id="57" name="Text 48"/>
          <p:cNvSpPr txBox="1"/>
          <p:nvPr/>
        </p:nvSpPr>
        <p:spPr>
          <a:xfrm>
            <a:off x="9509760" y="5852160"/>
            <a:ext cx="2103120" cy="411480"/>
          </a:xfrm>
          <a:prstGeom prst="rect">
            <a:avLst/>
          </a:prstGeom>
          <a:noFill/>
          <a:ln/>
        </p:spPr>
        <p:txBody>
          <a:bodyPr wrap="square" lIns="0" tIns="0" rIns="0" bIns="0" rtlCol="0" anchor="ctr"/>
          <a:lstStyle/>
          <a:p>
            <a:pPr algn="ctr" indent="0" marL="0">
              <a:buNone/>
            </a:pPr>
            <a:r>
              <a:rPr lang="en-US" sz="1150" b="1" dirty="0">
                <a:solidFill>
                  <a:srgbClr val="F1F5F9"/>
                </a:solidFill>
                <a:latin typeface="Calibri" pitchFamily="34" charset="0"/>
                <a:ea typeface="Calibri" pitchFamily="34" charset="-122"/>
                <a:cs typeface="Calibri" pitchFamily="34" charset="-120"/>
              </a:rPr>
              <a:t>Human-readable explanations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9184"/>
            <a:ext cx="7315200" cy="228600"/>
          </a:xfrm>
          <a:prstGeom prst="rect">
            <a:avLst/>
          </a:prstGeom>
          <a:noFill/>
          <a:ln/>
        </p:spPr>
        <p:txBody>
          <a:bodyPr wrap="square" lIns="0" tIns="0" rIns="0" bIns="0" rtlCol="0" anchor="t"/>
          <a:lstStyle/>
          <a:p>
            <a:pPr indent="0" marL="0">
              <a:buNone/>
            </a:pPr>
            <a:r>
              <a:rPr lang="en-US" sz="1100" b="1" spc="400" kern="0" dirty="0">
                <a:solidFill>
                  <a:srgbClr val="22D3EE"/>
                </a:solidFill>
                <a:latin typeface="Calibri" pitchFamily="34" charset="0"/>
                <a:ea typeface="Calibri" pitchFamily="34" charset="-122"/>
                <a:cs typeface="Calibri" pitchFamily="34" charset="-120"/>
              </a:rPr>
              <a:t>03  |  ARCHITECTURE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600" b="1" dirty="0">
                <a:solidFill>
                  <a:srgbClr val="F1F5F9"/>
                </a:solidFill>
                <a:latin typeface="Calibri" pitchFamily="34" charset="0"/>
                <a:ea typeface="Calibri" pitchFamily="34" charset="-122"/>
                <a:cs typeface="Calibri" pitchFamily="34" charset="-120"/>
              </a:rPr>
              <a:t>System Workflow</a:t>
            </a:r>
            <a:endParaRPr lang="en-US" sz="3600" dirty="0"/>
          </a:p>
        </p:txBody>
      </p:sp>
      <p:sp>
        <p:nvSpPr>
          <p:cNvPr id="4" name="Shape 2"/>
          <p:cNvSpPr/>
          <p:nvPr/>
        </p:nvSpPr>
        <p:spPr>
          <a:xfrm>
            <a:off x="548640" y="1508760"/>
            <a:ext cx="1828800" cy="1920240"/>
          </a:xfrm>
          <a:prstGeom prst="roundRect">
            <a:avLst>
              <a:gd name="adj" fmla="val 6000"/>
            </a:avLst>
          </a:prstGeom>
          <a:solidFill>
            <a:srgbClr val="0B1630">
              <a:alpha val="80000"/>
            </a:srgbClr>
          </a:solidFill>
          <a:ln w="9525">
            <a:solidFill>
              <a:srgbClr val="22D3EE">
                <a:alpha val="60000"/>
              </a:srgbClr>
            </a:solidFill>
            <a:prstDash val="solid"/>
          </a:ln>
        </p:spPr>
      </p:sp>
      <p:sp>
        <p:nvSpPr>
          <p:cNvPr id="5" name="Text 3"/>
          <p:cNvSpPr txBox="1"/>
          <p:nvPr/>
        </p:nvSpPr>
        <p:spPr>
          <a:xfrm>
            <a:off x="685800" y="1618488"/>
            <a:ext cx="548640" cy="201168"/>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01</a:t>
            </a:r>
            <a:endParaRPr lang="en-US" sz="1100" dirty="0"/>
          </a:p>
        </p:txBody>
      </p:sp>
      <p:sp>
        <p:nvSpPr>
          <p:cNvPr id="6" name="Shape 4"/>
          <p:cNvSpPr/>
          <p:nvPr/>
        </p:nvSpPr>
        <p:spPr>
          <a:xfrm>
            <a:off x="1078992" y="1783080"/>
            <a:ext cx="768096" cy="768096"/>
          </a:xfrm>
          <a:prstGeom prst="ellipse">
            <a:avLst/>
          </a:prstGeom>
          <a:solidFill>
            <a:srgbClr val="22D3EE">
              <a:alpha val="20000"/>
            </a:srgbClr>
          </a:solidFill>
          <a:ln w="12700">
            <a:solidFill>
              <a:srgbClr val="22D3EE">
                <a:alpha val="75000"/>
              </a:srgbClr>
            </a:solidFill>
            <a:prstDash val="solid"/>
          </a:ln>
        </p:spPr>
      </p:sp>
      <p:pic>
        <p:nvPicPr>
          <p:cNvPr id="7" name="Image 0" descr="preencoded.png">    </p:cNvPr>
          <p:cNvPicPr>
            <a:picLocks noChangeAspect="1"/>
          </p:cNvPicPr>
          <p:nvPr/>
        </p:nvPicPr>
        <p:blipFill>
          <a:blip r:embed="rId2"/>
          <a:stretch>
            <a:fillRect/>
          </a:stretch>
        </p:blipFill>
        <p:spPr>
          <a:xfrm>
            <a:off x="1286378" y="1990466"/>
            <a:ext cx="353324" cy="353324"/>
          </a:xfrm>
          <a:prstGeom prst="rect">
            <a:avLst/>
          </a:prstGeom>
        </p:spPr>
      </p:pic>
      <p:sp>
        <p:nvSpPr>
          <p:cNvPr id="8" name="Text 5"/>
          <p:cNvSpPr txBox="1"/>
          <p:nvPr/>
        </p:nvSpPr>
        <p:spPr>
          <a:xfrm>
            <a:off x="658368" y="269748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NASA Kepler Dataset</a:t>
            </a:r>
            <a:endParaRPr lang="en-US" sz="1400" dirty="0"/>
          </a:p>
        </p:txBody>
      </p:sp>
      <p:sp>
        <p:nvSpPr>
          <p:cNvPr id="9" name="Shape 6"/>
          <p:cNvSpPr/>
          <p:nvPr/>
        </p:nvSpPr>
        <p:spPr>
          <a:xfrm>
            <a:off x="2864358" y="1508760"/>
            <a:ext cx="1828800" cy="1920240"/>
          </a:xfrm>
          <a:prstGeom prst="roundRect">
            <a:avLst>
              <a:gd name="adj" fmla="val 6000"/>
            </a:avLst>
          </a:prstGeom>
          <a:solidFill>
            <a:srgbClr val="0B1630">
              <a:alpha val="80000"/>
            </a:srgbClr>
          </a:solidFill>
          <a:ln w="9525">
            <a:solidFill>
              <a:srgbClr val="22D3EE">
                <a:alpha val="60000"/>
              </a:srgbClr>
            </a:solidFill>
            <a:prstDash val="solid"/>
          </a:ln>
        </p:spPr>
      </p:sp>
      <p:sp>
        <p:nvSpPr>
          <p:cNvPr id="10" name="Text 7"/>
          <p:cNvSpPr txBox="1"/>
          <p:nvPr/>
        </p:nvSpPr>
        <p:spPr>
          <a:xfrm>
            <a:off x="3001518" y="1618488"/>
            <a:ext cx="548640" cy="201168"/>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02</a:t>
            </a:r>
            <a:endParaRPr lang="en-US" sz="1100" dirty="0"/>
          </a:p>
        </p:txBody>
      </p:sp>
      <p:sp>
        <p:nvSpPr>
          <p:cNvPr id="11" name="Shape 8"/>
          <p:cNvSpPr/>
          <p:nvPr/>
        </p:nvSpPr>
        <p:spPr>
          <a:xfrm>
            <a:off x="3394710" y="1783080"/>
            <a:ext cx="768096" cy="768096"/>
          </a:xfrm>
          <a:prstGeom prst="ellipse">
            <a:avLst/>
          </a:prstGeom>
          <a:solidFill>
            <a:srgbClr val="22D3EE">
              <a:alpha val="20000"/>
            </a:srgbClr>
          </a:solidFill>
          <a:ln w="12700">
            <a:solidFill>
              <a:srgbClr val="22D3EE">
                <a:alpha val="75000"/>
              </a:srgbClr>
            </a:solidFill>
            <a:prstDash val="solid"/>
          </a:ln>
        </p:spPr>
      </p:sp>
      <p:pic>
        <p:nvPicPr>
          <p:cNvPr id="12" name="Image 1" descr="preencoded.png">    </p:cNvPr>
          <p:cNvPicPr>
            <a:picLocks noChangeAspect="1"/>
          </p:cNvPicPr>
          <p:nvPr/>
        </p:nvPicPr>
        <p:blipFill>
          <a:blip r:embed="rId3"/>
          <a:stretch>
            <a:fillRect/>
          </a:stretch>
        </p:blipFill>
        <p:spPr>
          <a:xfrm>
            <a:off x="3602096" y="1990466"/>
            <a:ext cx="353324" cy="353324"/>
          </a:xfrm>
          <a:prstGeom prst="rect">
            <a:avLst/>
          </a:prstGeom>
        </p:spPr>
      </p:pic>
      <p:sp>
        <p:nvSpPr>
          <p:cNvPr id="13" name="Text 9"/>
          <p:cNvSpPr txBox="1"/>
          <p:nvPr/>
        </p:nvSpPr>
        <p:spPr>
          <a:xfrm>
            <a:off x="2974086" y="269748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User Question through Chatbot</a:t>
            </a:r>
            <a:endParaRPr lang="en-US" sz="1400" dirty="0"/>
          </a:p>
        </p:txBody>
      </p:sp>
      <p:sp>
        <p:nvSpPr>
          <p:cNvPr id="14" name="Shape 10"/>
          <p:cNvSpPr/>
          <p:nvPr/>
        </p:nvSpPr>
        <p:spPr>
          <a:xfrm>
            <a:off x="5180076" y="1508760"/>
            <a:ext cx="1828800" cy="1920240"/>
          </a:xfrm>
          <a:prstGeom prst="roundRect">
            <a:avLst>
              <a:gd name="adj" fmla="val 6000"/>
            </a:avLst>
          </a:prstGeom>
          <a:solidFill>
            <a:srgbClr val="0B1630">
              <a:alpha val="80000"/>
            </a:srgbClr>
          </a:solidFill>
          <a:ln w="9525">
            <a:solidFill>
              <a:srgbClr val="A78BFA">
                <a:alpha val="60000"/>
              </a:srgbClr>
            </a:solidFill>
            <a:prstDash val="solid"/>
          </a:ln>
        </p:spPr>
      </p:sp>
      <p:sp>
        <p:nvSpPr>
          <p:cNvPr id="15" name="Text 11"/>
          <p:cNvSpPr txBox="1"/>
          <p:nvPr/>
        </p:nvSpPr>
        <p:spPr>
          <a:xfrm>
            <a:off x="5317236" y="1618488"/>
            <a:ext cx="548640" cy="201168"/>
          </a:xfrm>
          <a:prstGeom prst="rect">
            <a:avLst/>
          </a:prstGeom>
          <a:noFill/>
          <a:ln/>
        </p:spPr>
        <p:txBody>
          <a:bodyPr wrap="square" lIns="0" tIns="0" rIns="0" bIns="0" rtlCol="0" anchor="t"/>
          <a:lstStyle/>
          <a:p>
            <a:pPr indent="0" marL="0">
              <a:buNone/>
            </a:pPr>
            <a:r>
              <a:rPr lang="en-US" sz="1100" b="1" spc="200" kern="0" dirty="0">
                <a:solidFill>
                  <a:srgbClr val="A78BFA"/>
                </a:solidFill>
                <a:latin typeface="Calibri" pitchFamily="34" charset="0"/>
                <a:ea typeface="Calibri" pitchFamily="34" charset="-122"/>
                <a:cs typeface="Calibri" pitchFamily="34" charset="-120"/>
              </a:rPr>
              <a:t>03</a:t>
            </a:r>
            <a:endParaRPr lang="en-US" sz="1100" dirty="0"/>
          </a:p>
        </p:txBody>
      </p:sp>
      <p:sp>
        <p:nvSpPr>
          <p:cNvPr id="16" name="Shape 12"/>
          <p:cNvSpPr/>
          <p:nvPr/>
        </p:nvSpPr>
        <p:spPr>
          <a:xfrm>
            <a:off x="5710428" y="1783080"/>
            <a:ext cx="768096" cy="768096"/>
          </a:xfrm>
          <a:prstGeom prst="ellipse">
            <a:avLst/>
          </a:prstGeom>
          <a:solidFill>
            <a:srgbClr val="A78BFA">
              <a:alpha val="20000"/>
            </a:srgbClr>
          </a:solidFill>
          <a:ln w="12700">
            <a:solidFill>
              <a:srgbClr val="A78BFA">
                <a:alpha val="75000"/>
              </a:srgbClr>
            </a:solidFill>
            <a:prstDash val="solid"/>
          </a:ln>
        </p:spPr>
      </p:sp>
      <p:pic>
        <p:nvPicPr>
          <p:cNvPr id="17" name="Image 2" descr="preencoded.png">    </p:cNvPr>
          <p:cNvPicPr>
            <a:picLocks noChangeAspect="1"/>
          </p:cNvPicPr>
          <p:nvPr/>
        </p:nvPicPr>
        <p:blipFill>
          <a:blip r:embed="rId4"/>
          <a:stretch>
            <a:fillRect/>
          </a:stretch>
        </p:blipFill>
        <p:spPr>
          <a:xfrm>
            <a:off x="5917814" y="1990466"/>
            <a:ext cx="353324" cy="353324"/>
          </a:xfrm>
          <a:prstGeom prst="rect">
            <a:avLst/>
          </a:prstGeom>
        </p:spPr>
      </p:pic>
      <p:sp>
        <p:nvSpPr>
          <p:cNvPr id="18" name="Text 13"/>
          <p:cNvSpPr txBox="1"/>
          <p:nvPr/>
        </p:nvSpPr>
        <p:spPr>
          <a:xfrm>
            <a:off x="5289804" y="269748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Chatbot Understands Request</a:t>
            </a:r>
            <a:endParaRPr lang="en-US" sz="1400" dirty="0"/>
          </a:p>
        </p:txBody>
      </p:sp>
      <p:sp>
        <p:nvSpPr>
          <p:cNvPr id="19" name="Shape 14"/>
          <p:cNvSpPr/>
          <p:nvPr/>
        </p:nvSpPr>
        <p:spPr>
          <a:xfrm>
            <a:off x="7495794" y="1508760"/>
            <a:ext cx="1828800" cy="1920240"/>
          </a:xfrm>
          <a:prstGeom prst="roundRect">
            <a:avLst>
              <a:gd name="adj" fmla="val 6000"/>
            </a:avLst>
          </a:prstGeom>
          <a:solidFill>
            <a:srgbClr val="0B1630">
              <a:alpha val="80000"/>
            </a:srgbClr>
          </a:solidFill>
          <a:ln w="9525">
            <a:solidFill>
              <a:srgbClr val="22D3EE">
                <a:alpha val="60000"/>
              </a:srgbClr>
            </a:solidFill>
            <a:prstDash val="solid"/>
          </a:ln>
        </p:spPr>
      </p:sp>
      <p:sp>
        <p:nvSpPr>
          <p:cNvPr id="20" name="Text 15"/>
          <p:cNvSpPr txBox="1"/>
          <p:nvPr/>
        </p:nvSpPr>
        <p:spPr>
          <a:xfrm>
            <a:off x="7632954" y="1618488"/>
            <a:ext cx="548640" cy="201168"/>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04</a:t>
            </a:r>
            <a:endParaRPr lang="en-US" sz="1100" dirty="0"/>
          </a:p>
        </p:txBody>
      </p:sp>
      <p:sp>
        <p:nvSpPr>
          <p:cNvPr id="21" name="Shape 16"/>
          <p:cNvSpPr/>
          <p:nvPr/>
        </p:nvSpPr>
        <p:spPr>
          <a:xfrm>
            <a:off x="8026146" y="1783080"/>
            <a:ext cx="768096" cy="768096"/>
          </a:xfrm>
          <a:prstGeom prst="ellipse">
            <a:avLst/>
          </a:prstGeom>
          <a:solidFill>
            <a:srgbClr val="22D3EE">
              <a:alpha val="20000"/>
            </a:srgbClr>
          </a:solidFill>
          <a:ln w="12700">
            <a:solidFill>
              <a:srgbClr val="22D3EE">
                <a:alpha val="75000"/>
              </a:srgbClr>
            </a:solidFill>
            <a:prstDash val="solid"/>
          </a:ln>
        </p:spPr>
      </p:sp>
      <p:pic>
        <p:nvPicPr>
          <p:cNvPr id="22" name="Image 3" descr="preencoded.png">    </p:cNvPr>
          <p:cNvPicPr>
            <a:picLocks noChangeAspect="1"/>
          </p:cNvPicPr>
          <p:nvPr/>
        </p:nvPicPr>
        <p:blipFill>
          <a:blip r:embed="rId5"/>
          <a:stretch>
            <a:fillRect/>
          </a:stretch>
        </p:blipFill>
        <p:spPr>
          <a:xfrm>
            <a:off x="8233532" y="1990466"/>
            <a:ext cx="353324" cy="353324"/>
          </a:xfrm>
          <a:prstGeom prst="rect">
            <a:avLst/>
          </a:prstGeom>
        </p:spPr>
      </p:pic>
      <p:sp>
        <p:nvSpPr>
          <p:cNvPr id="23" name="Text 17"/>
          <p:cNvSpPr txBox="1"/>
          <p:nvPr/>
        </p:nvSpPr>
        <p:spPr>
          <a:xfrm>
            <a:off x="7605522" y="269748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Dataset Search / Filtering</a:t>
            </a:r>
            <a:endParaRPr lang="en-US" sz="1400" dirty="0"/>
          </a:p>
        </p:txBody>
      </p:sp>
      <p:sp>
        <p:nvSpPr>
          <p:cNvPr id="24" name="Shape 18"/>
          <p:cNvSpPr/>
          <p:nvPr/>
        </p:nvSpPr>
        <p:spPr>
          <a:xfrm>
            <a:off x="9811512" y="1508760"/>
            <a:ext cx="1828800" cy="1920240"/>
          </a:xfrm>
          <a:prstGeom prst="roundRect">
            <a:avLst>
              <a:gd name="adj" fmla="val 6000"/>
            </a:avLst>
          </a:prstGeom>
          <a:solidFill>
            <a:srgbClr val="0B1630">
              <a:alpha val="80000"/>
            </a:srgbClr>
          </a:solidFill>
          <a:ln w="9525">
            <a:solidFill>
              <a:srgbClr val="F5C26B">
                <a:alpha val="60000"/>
              </a:srgbClr>
            </a:solidFill>
            <a:prstDash val="solid"/>
          </a:ln>
        </p:spPr>
      </p:sp>
      <p:sp>
        <p:nvSpPr>
          <p:cNvPr id="25" name="Text 19"/>
          <p:cNvSpPr txBox="1"/>
          <p:nvPr/>
        </p:nvSpPr>
        <p:spPr>
          <a:xfrm>
            <a:off x="9948672" y="1618488"/>
            <a:ext cx="548640" cy="201168"/>
          </a:xfrm>
          <a:prstGeom prst="rect">
            <a:avLst/>
          </a:prstGeom>
          <a:noFill/>
          <a:ln/>
        </p:spPr>
        <p:txBody>
          <a:bodyPr wrap="square" lIns="0" tIns="0" rIns="0" bIns="0" rtlCol="0" anchor="t"/>
          <a:lstStyle/>
          <a:p>
            <a:pPr indent="0" marL="0">
              <a:buNone/>
            </a:pPr>
            <a:r>
              <a:rPr lang="en-US" sz="1100" b="1" spc="200" kern="0" dirty="0">
                <a:solidFill>
                  <a:srgbClr val="F5C26B"/>
                </a:solidFill>
                <a:latin typeface="Calibri" pitchFamily="34" charset="0"/>
                <a:ea typeface="Calibri" pitchFamily="34" charset="-122"/>
                <a:cs typeface="Calibri" pitchFamily="34" charset="-120"/>
              </a:rPr>
              <a:t>05</a:t>
            </a:r>
            <a:endParaRPr lang="en-US" sz="1100" dirty="0"/>
          </a:p>
        </p:txBody>
      </p:sp>
      <p:sp>
        <p:nvSpPr>
          <p:cNvPr id="26" name="Shape 20"/>
          <p:cNvSpPr/>
          <p:nvPr/>
        </p:nvSpPr>
        <p:spPr>
          <a:xfrm>
            <a:off x="10085832" y="1874520"/>
            <a:ext cx="566928" cy="566928"/>
          </a:xfrm>
          <a:prstGeom prst="ellipse">
            <a:avLst/>
          </a:prstGeom>
          <a:solidFill>
            <a:srgbClr val="22D3EE">
              <a:alpha val="20000"/>
            </a:srgbClr>
          </a:solidFill>
          <a:ln w="12700">
            <a:solidFill>
              <a:srgbClr val="22D3EE">
                <a:alpha val="75000"/>
              </a:srgbClr>
            </a:solidFill>
            <a:prstDash val="solid"/>
          </a:ln>
        </p:spPr>
      </p:sp>
      <p:pic>
        <p:nvPicPr>
          <p:cNvPr id="27" name="Image 4" descr="preencoded.png">    </p:cNvPr>
          <p:cNvPicPr>
            <a:picLocks noChangeAspect="1"/>
          </p:cNvPicPr>
          <p:nvPr/>
        </p:nvPicPr>
        <p:blipFill>
          <a:blip r:embed="rId6"/>
          <a:stretch>
            <a:fillRect/>
          </a:stretch>
        </p:blipFill>
        <p:spPr>
          <a:xfrm>
            <a:off x="10238903" y="2027591"/>
            <a:ext cx="260787" cy="260787"/>
          </a:xfrm>
          <a:prstGeom prst="rect">
            <a:avLst/>
          </a:prstGeom>
        </p:spPr>
      </p:pic>
      <p:sp>
        <p:nvSpPr>
          <p:cNvPr id="28" name="Shape 21"/>
          <p:cNvSpPr/>
          <p:nvPr/>
        </p:nvSpPr>
        <p:spPr>
          <a:xfrm>
            <a:off x="10799064" y="1874520"/>
            <a:ext cx="566928" cy="566928"/>
          </a:xfrm>
          <a:prstGeom prst="ellipse">
            <a:avLst/>
          </a:prstGeom>
          <a:solidFill>
            <a:srgbClr val="F5C26B">
              <a:alpha val="20000"/>
            </a:srgbClr>
          </a:solidFill>
          <a:ln w="12700">
            <a:solidFill>
              <a:srgbClr val="F5C26B">
                <a:alpha val="75000"/>
              </a:srgbClr>
            </a:solidFill>
            <a:prstDash val="solid"/>
          </a:ln>
        </p:spPr>
      </p:sp>
      <p:pic>
        <p:nvPicPr>
          <p:cNvPr id="29" name="Image 5" descr="preencoded.png">    </p:cNvPr>
          <p:cNvPicPr>
            <a:picLocks noChangeAspect="1"/>
          </p:cNvPicPr>
          <p:nvPr/>
        </p:nvPicPr>
        <p:blipFill>
          <a:blip r:embed="rId7"/>
          <a:stretch>
            <a:fillRect/>
          </a:stretch>
        </p:blipFill>
        <p:spPr>
          <a:xfrm>
            <a:off x="10952135" y="2027591"/>
            <a:ext cx="260787" cy="260787"/>
          </a:xfrm>
          <a:prstGeom prst="rect">
            <a:avLst/>
          </a:prstGeom>
        </p:spPr>
      </p:pic>
      <p:sp>
        <p:nvSpPr>
          <p:cNvPr id="30" name="Text 22"/>
          <p:cNvSpPr txBox="1"/>
          <p:nvPr/>
        </p:nvSpPr>
        <p:spPr>
          <a:xfrm>
            <a:off x="9921240" y="269748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Planet + Host-Star Characteristics</a:t>
            </a:r>
            <a:endParaRPr lang="en-US" sz="1400" dirty="0"/>
          </a:p>
        </p:txBody>
      </p:sp>
      <p:sp>
        <p:nvSpPr>
          <p:cNvPr id="31" name="Shape 23"/>
          <p:cNvSpPr/>
          <p:nvPr/>
        </p:nvSpPr>
        <p:spPr>
          <a:xfrm>
            <a:off x="9811512" y="3977640"/>
            <a:ext cx="1828800" cy="1920240"/>
          </a:xfrm>
          <a:prstGeom prst="roundRect">
            <a:avLst>
              <a:gd name="adj" fmla="val 6000"/>
            </a:avLst>
          </a:prstGeom>
          <a:solidFill>
            <a:srgbClr val="0B1630">
              <a:alpha val="80000"/>
            </a:srgbClr>
          </a:solidFill>
          <a:ln w="9525">
            <a:solidFill>
              <a:srgbClr val="A78BFA">
                <a:alpha val="60000"/>
              </a:srgbClr>
            </a:solidFill>
            <a:prstDash val="solid"/>
          </a:ln>
        </p:spPr>
      </p:sp>
      <p:sp>
        <p:nvSpPr>
          <p:cNvPr id="32" name="Text 24"/>
          <p:cNvSpPr txBox="1"/>
          <p:nvPr/>
        </p:nvSpPr>
        <p:spPr>
          <a:xfrm>
            <a:off x="9948672" y="4087368"/>
            <a:ext cx="548640" cy="201168"/>
          </a:xfrm>
          <a:prstGeom prst="rect">
            <a:avLst/>
          </a:prstGeom>
          <a:noFill/>
          <a:ln/>
        </p:spPr>
        <p:txBody>
          <a:bodyPr wrap="square" lIns="0" tIns="0" rIns="0" bIns="0" rtlCol="0" anchor="t"/>
          <a:lstStyle/>
          <a:p>
            <a:pPr indent="0" marL="0">
              <a:buNone/>
            </a:pPr>
            <a:r>
              <a:rPr lang="en-US" sz="1100" b="1" spc="200" kern="0" dirty="0">
                <a:solidFill>
                  <a:srgbClr val="A78BFA"/>
                </a:solidFill>
                <a:latin typeface="Calibri" pitchFamily="34" charset="0"/>
                <a:ea typeface="Calibri" pitchFamily="34" charset="-122"/>
                <a:cs typeface="Calibri" pitchFamily="34" charset="-120"/>
              </a:rPr>
              <a:t>06</a:t>
            </a:r>
            <a:endParaRPr lang="en-US" sz="1100" dirty="0"/>
          </a:p>
        </p:txBody>
      </p:sp>
      <p:sp>
        <p:nvSpPr>
          <p:cNvPr id="33" name="Shape 25"/>
          <p:cNvSpPr/>
          <p:nvPr/>
        </p:nvSpPr>
        <p:spPr>
          <a:xfrm>
            <a:off x="10341864" y="4251960"/>
            <a:ext cx="768096" cy="768096"/>
          </a:xfrm>
          <a:prstGeom prst="ellipse">
            <a:avLst/>
          </a:prstGeom>
          <a:solidFill>
            <a:srgbClr val="A78BFA">
              <a:alpha val="20000"/>
            </a:srgbClr>
          </a:solidFill>
          <a:ln w="12700">
            <a:solidFill>
              <a:srgbClr val="A78BFA">
                <a:alpha val="75000"/>
              </a:srgbClr>
            </a:solidFill>
            <a:prstDash val="solid"/>
          </a:ln>
        </p:spPr>
      </p:sp>
      <p:pic>
        <p:nvPicPr>
          <p:cNvPr id="34" name="Image 6" descr="preencoded.png">    </p:cNvPr>
          <p:cNvPicPr>
            <a:picLocks noChangeAspect="1"/>
          </p:cNvPicPr>
          <p:nvPr/>
        </p:nvPicPr>
        <p:blipFill>
          <a:blip r:embed="rId8"/>
          <a:stretch>
            <a:fillRect/>
          </a:stretch>
        </p:blipFill>
        <p:spPr>
          <a:xfrm>
            <a:off x="10549250" y="4459346"/>
            <a:ext cx="353324" cy="353324"/>
          </a:xfrm>
          <a:prstGeom prst="rect">
            <a:avLst/>
          </a:prstGeom>
        </p:spPr>
      </p:pic>
      <p:sp>
        <p:nvSpPr>
          <p:cNvPr id="35" name="Text 26"/>
          <p:cNvSpPr txBox="1"/>
          <p:nvPr/>
        </p:nvSpPr>
        <p:spPr>
          <a:xfrm>
            <a:off x="9921240" y="516636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ML Classification</a:t>
            </a:r>
            <a:endParaRPr lang="en-US" sz="1400" dirty="0"/>
          </a:p>
        </p:txBody>
      </p:sp>
      <p:sp>
        <p:nvSpPr>
          <p:cNvPr id="36" name="Shape 27"/>
          <p:cNvSpPr/>
          <p:nvPr/>
        </p:nvSpPr>
        <p:spPr>
          <a:xfrm>
            <a:off x="7495794" y="3977640"/>
            <a:ext cx="1828800" cy="1920240"/>
          </a:xfrm>
          <a:prstGeom prst="roundRect">
            <a:avLst>
              <a:gd name="adj" fmla="val 6000"/>
            </a:avLst>
          </a:prstGeom>
          <a:solidFill>
            <a:srgbClr val="0B1630">
              <a:alpha val="80000"/>
            </a:srgbClr>
          </a:solidFill>
          <a:ln w="9525">
            <a:solidFill>
              <a:srgbClr val="F5C26B">
                <a:alpha val="60000"/>
              </a:srgbClr>
            </a:solidFill>
            <a:prstDash val="solid"/>
          </a:ln>
        </p:spPr>
      </p:sp>
      <p:sp>
        <p:nvSpPr>
          <p:cNvPr id="37" name="Text 28"/>
          <p:cNvSpPr txBox="1"/>
          <p:nvPr/>
        </p:nvSpPr>
        <p:spPr>
          <a:xfrm>
            <a:off x="7632954" y="4087368"/>
            <a:ext cx="548640" cy="201168"/>
          </a:xfrm>
          <a:prstGeom prst="rect">
            <a:avLst/>
          </a:prstGeom>
          <a:noFill/>
          <a:ln/>
        </p:spPr>
        <p:txBody>
          <a:bodyPr wrap="square" lIns="0" tIns="0" rIns="0" bIns="0" rtlCol="0" anchor="t"/>
          <a:lstStyle/>
          <a:p>
            <a:pPr indent="0" marL="0">
              <a:buNone/>
            </a:pPr>
            <a:r>
              <a:rPr lang="en-US" sz="1100" b="1" spc="200" kern="0" dirty="0">
                <a:solidFill>
                  <a:srgbClr val="F5C26B"/>
                </a:solidFill>
                <a:latin typeface="Calibri" pitchFamily="34" charset="0"/>
                <a:ea typeface="Calibri" pitchFamily="34" charset="-122"/>
                <a:cs typeface="Calibri" pitchFamily="34" charset="-120"/>
              </a:rPr>
              <a:t>07</a:t>
            </a:r>
            <a:endParaRPr lang="en-US" sz="1100" dirty="0"/>
          </a:p>
        </p:txBody>
      </p:sp>
      <p:sp>
        <p:nvSpPr>
          <p:cNvPr id="38" name="Shape 29"/>
          <p:cNvSpPr/>
          <p:nvPr/>
        </p:nvSpPr>
        <p:spPr>
          <a:xfrm>
            <a:off x="8026146" y="4251960"/>
            <a:ext cx="768096" cy="768096"/>
          </a:xfrm>
          <a:prstGeom prst="ellipse">
            <a:avLst/>
          </a:prstGeom>
          <a:solidFill>
            <a:srgbClr val="F5C26B">
              <a:alpha val="20000"/>
            </a:srgbClr>
          </a:solidFill>
          <a:ln w="12700">
            <a:solidFill>
              <a:srgbClr val="F5C26B">
                <a:alpha val="75000"/>
              </a:srgbClr>
            </a:solidFill>
            <a:prstDash val="solid"/>
          </a:ln>
        </p:spPr>
      </p:sp>
      <p:pic>
        <p:nvPicPr>
          <p:cNvPr id="39" name="Image 7" descr="preencoded.png">    </p:cNvPr>
          <p:cNvPicPr>
            <a:picLocks noChangeAspect="1"/>
          </p:cNvPicPr>
          <p:nvPr/>
        </p:nvPicPr>
        <p:blipFill>
          <a:blip r:embed="rId9"/>
          <a:stretch>
            <a:fillRect/>
          </a:stretch>
        </p:blipFill>
        <p:spPr>
          <a:xfrm>
            <a:off x="8233532" y="4459346"/>
            <a:ext cx="353324" cy="353324"/>
          </a:xfrm>
          <a:prstGeom prst="rect">
            <a:avLst/>
          </a:prstGeom>
        </p:spPr>
      </p:pic>
      <p:sp>
        <p:nvSpPr>
          <p:cNvPr id="40" name="Text 30"/>
          <p:cNvSpPr txBox="1"/>
          <p:nvPr/>
        </p:nvSpPr>
        <p:spPr>
          <a:xfrm>
            <a:off x="7605522" y="516636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Candidate Screening / Prioritization</a:t>
            </a:r>
            <a:endParaRPr lang="en-US" sz="1400" dirty="0"/>
          </a:p>
        </p:txBody>
      </p:sp>
      <p:sp>
        <p:nvSpPr>
          <p:cNvPr id="41" name="Shape 31"/>
          <p:cNvSpPr/>
          <p:nvPr/>
        </p:nvSpPr>
        <p:spPr>
          <a:xfrm>
            <a:off x="5180076" y="3977640"/>
            <a:ext cx="1828800" cy="1920240"/>
          </a:xfrm>
          <a:prstGeom prst="roundRect">
            <a:avLst>
              <a:gd name="adj" fmla="val 6000"/>
            </a:avLst>
          </a:prstGeom>
          <a:solidFill>
            <a:srgbClr val="0B1630">
              <a:alpha val="80000"/>
            </a:srgbClr>
          </a:solidFill>
          <a:ln w="9525">
            <a:solidFill>
              <a:srgbClr val="22D3EE">
                <a:alpha val="60000"/>
              </a:srgbClr>
            </a:solidFill>
            <a:prstDash val="solid"/>
          </a:ln>
        </p:spPr>
      </p:sp>
      <p:sp>
        <p:nvSpPr>
          <p:cNvPr id="42" name="Text 32"/>
          <p:cNvSpPr txBox="1"/>
          <p:nvPr/>
        </p:nvSpPr>
        <p:spPr>
          <a:xfrm>
            <a:off x="5317236" y="4087368"/>
            <a:ext cx="548640" cy="201168"/>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08</a:t>
            </a:r>
            <a:endParaRPr lang="en-US" sz="1100" dirty="0"/>
          </a:p>
        </p:txBody>
      </p:sp>
      <p:sp>
        <p:nvSpPr>
          <p:cNvPr id="43" name="Shape 33"/>
          <p:cNvSpPr/>
          <p:nvPr/>
        </p:nvSpPr>
        <p:spPr>
          <a:xfrm>
            <a:off x="5710428" y="4251960"/>
            <a:ext cx="768096" cy="768096"/>
          </a:xfrm>
          <a:prstGeom prst="ellipse">
            <a:avLst/>
          </a:prstGeom>
          <a:solidFill>
            <a:srgbClr val="22D3EE">
              <a:alpha val="20000"/>
            </a:srgbClr>
          </a:solidFill>
          <a:ln w="12700">
            <a:solidFill>
              <a:srgbClr val="22D3EE">
                <a:alpha val="75000"/>
              </a:srgbClr>
            </a:solidFill>
            <a:prstDash val="solid"/>
          </a:ln>
        </p:spPr>
      </p:sp>
      <p:pic>
        <p:nvPicPr>
          <p:cNvPr id="44" name="Image 8" descr="preencoded.png">    </p:cNvPr>
          <p:cNvPicPr>
            <a:picLocks noChangeAspect="1"/>
          </p:cNvPicPr>
          <p:nvPr/>
        </p:nvPicPr>
        <p:blipFill>
          <a:blip r:embed="rId10"/>
          <a:stretch>
            <a:fillRect/>
          </a:stretch>
        </p:blipFill>
        <p:spPr>
          <a:xfrm>
            <a:off x="5917814" y="4459346"/>
            <a:ext cx="353324" cy="353324"/>
          </a:xfrm>
          <a:prstGeom prst="rect">
            <a:avLst/>
          </a:prstGeom>
        </p:spPr>
      </p:pic>
      <p:sp>
        <p:nvSpPr>
          <p:cNvPr id="45" name="Text 34"/>
          <p:cNvSpPr txBox="1"/>
          <p:nvPr/>
        </p:nvSpPr>
        <p:spPr>
          <a:xfrm>
            <a:off x="5289804" y="516636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Transit / Event Analysis</a:t>
            </a:r>
            <a:endParaRPr lang="en-US" sz="1400" dirty="0"/>
          </a:p>
        </p:txBody>
      </p:sp>
      <p:sp>
        <p:nvSpPr>
          <p:cNvPr id="46" name="Shape 35"/>
          <p:cNvSpPr/>
          <p:nvPr/>
        </p:nvSpPr>
        <p:spPr>
          <a:xfrm>
            <a:off x="2864358" y="3977640"/>
            <a:ext cx="1828800" cy="1920240"/>
          </a:xfrm>
          <a:prstGeom prst="roundRect">
            <a:avLst>
              <a:gd name="adj" fmla="val 6000"/>
            </a:avLst>
          </a:prstGeom>
          <a:solidFill>
            <a:srgbClr val="0B1630">
              <a:alpha val="80000"/>
            </a:srgbClr>
          </a:solidFill>
          <a:ln w="9525">
            <a:solidFill>
              <a:srgbClr val="60A5FA">
                <a:alpha val="60000"/>
              </a:srgbClr>
            </a:solidFill>
            <a:prstDash val="solid"/>
          </a:ln>
        </p:spPr>
      </p:sp>
      <p:sp>
        <p:nvSpPr>
          <p:cNvPr id="47" name="Text 36"/>
          <p:cNvSpPr txBox="1"/>
          <p:nvPr/>
        </p:nvSpPr>
        <p:spPr>
          <a:xfrm>
            <a:off x="3001518" y="4087368"/>
            <a:ext cx="548640" cy="201168"/>
          </a:xfrm>
          <a:prstGeom prst="rect">
            <a:avLst/>
          </a:prstGeom>
          <a:noFill/>
          <a:ln/>
        </p:spPr>
        <p:txBody>
          <a:bodyPr wrap="square" lIns="0" tIns="0" rIns="0" bIns="0" rtlCol="0" anchor="t"/>
          <a:lstStyle/>
          <a:p>
            <a:pPr indent="0" marL="0">
              <a:buNone/>
            </a:pPr>
            <a:r>
              <a:rPr lang="en-US" sz="1100" b="1" spc="200" kern="0" dirty="0">
                <a:solidFill>
                  <a:srgbClr val="60A5FA"/>
                </a:solidFill>
                <a:latin typeface="Calibri" pitchFamily="34" charset="0"/>
                <a:ea typeface="Calibri" pitchFamily="34" charset="-122"/>
                <a:cs typeface="Calibri" pitchFamily="34" charset="-120"/>
              </a:rPr>
              <a:t>09</a:t>
            </a:r>
            <a:endParaRPr lang="en-US" sz="1100" dirty="0"/>
          </a:p>
        </p:txBody>
      </p:sp>
      <p:sp>
        <p:nvSpPr>
          <p:cNvPr id="48" name="Shape 37"/>
          <p:cNvSpPr/>
          <p:nvPr/>
        </p:nvSpPr>
        <p:spPr>
          <a:xfrm>
            <a:off x="3394710" y="4251960"/>
            <a:ext cx="768096" cy="768096"/>
          </a:xfrm>
          <a:prstGeom prst="ellipse">
            <a:avLst/>
          </a:prstGeom>
          <a:solidFill>
            <a:srgbClr val="60A5FA">
              <a:alpha val="20000"/>
            </a:srgbClr>
          </a:solidFill>
          <a:ln w="12700">
            <a:solidFill>
              <a:srgbClr val="60A5FA">
                <a:alpha val="75000"/>
              </a:srgbClr>
            </a:solidFill>
            <a:prstDash val="solid"/>
          </a:ln>
        </p:spPr>
      </p:sp>
      <p:pic>
        <p:nvPicPr>
          <p:cNvPr id="49" name="Image 9" descr="preencoded.png">    </p:cNvPr>
          <p:cNvPicPr>
            <a:picLocks noChangeAspect="1"/>
          </p:cNvPicPr>
          <p:nvPr/>
        </p:nvPicPr>
        <p:blipFill>
          <a:blip r:embed="rId11"/>
          <a:stretch>
            <a:fillRect/>
          </a:stretch>
        </p:blipFill>
        <p:spPr>
          <a:xfrm>
            <a:off x="3602096" y="4459346"/>
            <a:ext cx="353324" cy="353324"/>
          </a:xfrm>
          <a:prstGeom prst="rect">
            <a:avLst/>
          </a:prstGeom>
        </p:spPr>
      </p:pic>
      <p:sp>
        <p:nvSpPr>
          <p:cNvPr id="50" name="Text 38"/>
          <p:cNvSpPr txBox="1"/>
          <p:nvPr/>
        </p:nvSpPr>
        <p:spPr>
          <a:xfrm>
            <a:off x="2974086" y="516636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Visualizations</a:t>
            </a:r>
            <a:endParaRPr lang="en-US" sz="1400" dirty="0"/>
          </a:p>
        </p:txBody>
      </p:sp>
      <p:sp>
        <p:nvSpPr>
          <p:cNvPr id="51" name="Shape 39"/>
          <p:cNvSpPr/>
          <p:nvPr/>
        </p:nvSpPr>
        <p:spPr>
          <a:xfrm>
            <a:off x="548640" y="3977640"/>
            <a:ext cx="1828800" cy="1920240"/>
          </a:xfrm>
          <a:prstGeom prst="roundRect">
            <a:avLst>
              <a:gd name="adj" fmla="val 6000"/>
            </a:avLst>
          </a:prstGeom>
          <a:solidFill>
            <a:srgbClr val="0B1630">
              <a:alpha val="90000"/>
            </a:srgbClr>
          </a:solidFill>
          <a:ln w="19050">
            <a:solidFill>
              <a:srgbClr val="22D3EE">
                <a:alpha val="90000"/>
              </a:srgbClr>
            </a:solidFill>
            <a:prstDash val="solid"/>
          </a:ln>
        </p:spPr>
      </p:sp>
      <p:sp>
        <p:nvSpPr>
          <p:cNvPr id="52" name="Text 40"/>
          <p:cNvSpPr txBox="1"/>
          <p:nvPr/>
        </p:nvSpPr>
        <p:spPr>
          <a:xfrm>
            <a:off x="685800" y="4087368"/>
            <a:ext cx="548640" cy="201168"/>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10</a:t>
            </a:r>
            <a:endParaRPr lang="en-US" sz="1100" dirty="0"/>
          </a:p>
        </p:txBody>
      </p:sp>
      <p:sp>
        <p:nvSpPr>
          <p:cNvPr id="53" name="Shape 41"/>
          <p:cNvSpPr/>
          <p:nvPr/>
        </p:nvSpPr>
        <p:spPr>
          <a:xfrm>
            <a:off x="1078992" y="4251960"/>
            <a:ext cx="768096" cy="768096"/>
          </a:xfrm>
          <a:prstGeom prst="ellipse">
            <a:avLst/>
          </a:prstGeom>
          <a:solidFill>
            <a:srgbClr val="22D3EE">
              <a:alpha val="20000"/>
            </a:srgbClr>
          </a:solidFill>
          <a:ln w="12700">
            <a:solidFill>
              <a:srgbClr val="22D3EE">
                <a:alpha val="75000"/>
              </a:srgbClr>
            </a:solidFill>
            <a:prstDash val="solid"/>
          </a:ln>
        </p:spPr>
      </p:sp>
      <p:pic>
        <p:nvPicPr>
          <p:cNvPr id="54" name="Image 10" descr="preencoded.png">    </p:cNvPr>
          <p:cNvPicPr>
            <a:picLocks noChangeAspect="1"/>
          </p:cNvPicPr>
          <p:nvPr/>
        </p:nvPicPr>
        <p:blipFill>
          <a:blip r:embed="rId12"/>
          <a:stretch>
            <a:fillRect/>
          </a:stretch>
        </p:blipFill>
        <p:spPr>
          <a:xfrm>
            <a:off x="1286378" y="4459346"/>
            <a:ext cx="353324" cy="353324"/>
          </a:xfrm>
          <a:prstGeom prst="rect">
            <a:avLst/>
          </a:prstGeom>
        </p:spPr>
      </p:pic>
      <p:sp>
        <p:nvSpPr>
          <p:cNvPr id="55" name="Text 42"/>
          <p:cNvSpPr txBox="1"/>
          <p:nvPr/>
        </p:nvSpPr>
        <p:spPr>
          <a:xfrm>
            <a:off x="658368" y="5166360"/>
            <a:ext cx="1609344" cy="658368"/>
          </a:xfrm>
          <a:prstGeom prst="rect">
            <a:avLst/>
          </a:prstGeom>
          <a:noFill/>
          <a:ln/>
        </p:spPr>
        <p:txBody>
          <a:bodyPr wrap="square" lIns="0" tIns="0" rIns="0" bIns="0" rtlCol="0" anchor="t"/>
          <a:lstStyle/>
          <a:p>
            <a:pPr algn="ctr" indent="0" marL="0">
              <a:buNone/>
            </a:pPr>
            <a:r>
              <a:rPr lang="en-US" sz="1400" b="1" dirty="0">
                <a:solidFill>
                  <a:srgbClr val="F1F5F9"/>
                </a:solidFill>
                <a:latin typeface="Calibri" pitchFamily="34" charset="0"/>
                <a:ea typeface="Calibri" pitchFamily="34" charset="-122"/>
                <a:cs typeface="Calibri" pitchFamily="34" charset="-120"/>
              </a:rPr>
              <a:t>Human-Readable Result</a:t>
            </a:r>
            <a:endParaRPr lang="en-US" sz="1400" dirty="0"/>
          </a:p>
        </p:txBody>
      </p:sp>
      <p:sp>
        <p:nvSpPr>
          <p:cNvPr id="56" name="Shape 43"/>
          <p:cNvSpPr/>
          <p:nvPr/>
        </p:nvSpPr>
        <p:spPr>
          <a:xfrm>
            <a:off x="2441448" y="2468880"/>
            <a:ext cx="358902" cy="0"/>
          </a:xfrm>
          <a:prstGeom prst="line">
            <a:avLst/>
          </a:prstGeom>
          <a:noFill/>
          <a:ln w="25400">
            <a:solidFill>
              <a:srgbClr val="22D3EE"/>
            </a:solidFill>
            <a:prstDash val="solid"/>
            <a:tailEnd type="triangle"/>
          </a:ln>
        </p:spPr>
      </p:sp>
      <p:sp>
        <p:nvSpPr>
          <p:cNvPr id="57" name="Shape 44"/>
          <p:cNvSpPr/>
          <p:nvPr/>
        </p:nvSpPr>
        <p:spPr>
          <a:xfrm>
            <a:off x="4757166" y="2468880"/>
            <a:ext cx="358902" cy="0"/>
          </a:xfrm>
          <a:prstGeom prst="line">
            <a:avLst/>
          </a:prstGeom>
          <a:noFill/>
          <a:ln w="25400">
            <a:solidFill>
              <a:srgbClr val="22D3EE"/>
            </a:solidFill>
            <a:prstDash val="solid"/>
            <a:tailEnd type="triangle"/>
          </a:ln>
        </p:spPr>
      </p:sp>
      <p:sp>
        <p:nvSpPr>
          <p:cNvPr id="58" name="Shape 45"/>
          <p:cNvSpPr/>
          <p:nvPr/>
        </p:nvSpPr>
        <p:spPr>
          <a:xfrm>
            <a:off x="7072884" y="2468880"/>
            <a:ext cx="358902" cy="0"/>
          </a:xfrm>
          <a:prstGeom prst="line">
            <a:avLst/>
          </a:prstGeom>
          <a:noFill/>
          <a:ln w="25400">
            <a:solidFill>
              <a:srgbClr val="22D3EE"/>
            </a:solidFill>
            <a:prstDash val="solid"/>
            <a:tailEnd type="triangle"/>
          </a:ln>
        </p:spPr>
      </p:sp>
      <p:sp>
        <p:nvSpPr>
          <p:cNvPr id="59" name="Shape 46"/>
          <p:cNvSpPr/>
          <p:nvPr/>
        </p:nvSpPr>
        <p:spPr>
          <a:xfrm>
            <a:off x="9388602" y="2468880"/>
            <a:ext cx="358902" cy="0"/>
          </a:xfrm>
          <a:prstGeom prst="line">
            <a:avLst/>
          </a:prstGeom>
          <a:noFill/>
          <a:ln w="25400">
            <a:solidFill>
              <a:srgbClr val="22D3EE"/>
            </a:solidFill>
            <a:prstDash val="solid"/>
            <a:tailEnd type="triangle"/>
          </a:ln>
        </p:spPr>
      </p:sp>
      <p:sp>
        <p:nvSpPr>
          <p:cNvPr id="60" name="Shape 47"/>
          <p:cNvSpPr/>
          <p:nvPr/>
        </p:nvSpPr>
        <p:spPr>
          <a:xfrm>
            <a:off x="10725912" y="3474720"/>
            <a:ext cx="0" cy="457200"/>
          </a:xfrm>
          <a:prstGeom prst="line">
            <a:avLst/>
          </a:prstGeom>
          <a:noFill/>
          <a:ln w="25400">
            <a:solidFill>
              <a:srgbClr val="22D3EE"/>
            </a:solidFill>
            <a:prstDash val="solid"/>
            <a:tailEnd type="triangle"/>
          </a:ln>
        </p:spPr>
      </p:sp>
      <p:sp>
        <p:nvSpPr>
          <p:cNvPr id="61" name="Shape 48"/>
          <p:cNvSpPr/>
          <p:nvPr/>
        </p:nvSpPr>
        <p:spPr>
          <a:xfrm flipH="1">
            <a:off x="9388602" y="4937760"/>
            <a:ext cx="358902" cy="0"/>
          </a:xfrm>
          <a:prstGeom prst="line">
            <a:avLst/>
          </a:prstGeom>
          <a:noFill/>
          <a:ln w="25400">
            <a:solidFill>
              <a:srgbClr val="22D3EE"/>
            </a:solidFill>
            <a:prstDash val="solid"/>
            <a:tailEnd type="triangle"/>
          </a:ln>
        </p:spPr>
      </p:sp>
      <p:sp>
        <p:nvSpPr>
          <p:cNvPr id="62" name="Shape 49"/>
          <p:cNvSpPr/>
          <p:nvPr/>
        </p:nvSpPr>
        <p:spPr>
          <a:xfrm flipH="1">
            <a:off x="7072884" y="4937760"/>
            <a:ext cx="358902" cy="0"/>
          </a:xfrm>
          <a:prstGeom prst="line">
            <a:avLst/>
          </a:prstGeom>
          <a:noFill/>
          <a:ln w="25400">
            <a:solidFill>
              <a:srgbClr val="22D3EE"/>
            </a:solidFill>
            <a:prstDash val="solid"/>
            <a:tailEnd type="triangle"/>
          </a:ln>
        </p:spPr>
      </p:sp>
      <p:sp>
        <p:nvSpPr>
          <p:cNvPr id="63" name="Shape 50"/>
          <p:cNvSpPr/>
          <p:nvPr/>
        </p:nvSpPr>
        <p:spPr>
          <a:xfrm flipH="1">
            <a:off x="4757166" y="4937760"/>
            <a:ext cx="358902" cy="0"/>
          </a:xfrm>
          <a:prstGeom prst="line">
            <a:avLst/>
          </a:prstGeom>
          <a:noFill/>
          <a:ln w="25400">
            <a:solidFill>
              <a:srgbClr val="22D3EE"/>
            </a:solidFill>
            <a:prstDash val="solid"/>
            <a:tailEnd type="triangle"/>
          </a:ln>
        </p:spPr>
      </p:sp>
      <p:sp>
        <p:nvSpPr>
          <p:cNvPr id="64" name="Shape 51"/>
          <p:cNvSpPr/>
          <p:nvPr/>
        </p:nvSpPr>
        <p:spPr>
          <a:xfrm flipH="1">
            <a:off x="2441448" y="4937760"/>
            <a:ext cx="358902" cy="0"/>
          </a:xfrm>
          <a:prstGeom prst="line">
            <a:avLst/>
          </a:prstGeom>
          <a:noFill/>
          <a:ln w="25400">
            <a:solidFill>
              <a:srgbClr val="22D3EE"/>
            </a:solidFill>
            <a:prstDash val="solid"/>
            <a:tailEnd type="triangle"/>
          </a:ln>
        </p:spPr>
      </p:sp>
      <p:sp>
        <p:nvSpPr>
          <p:cNvPr id="65" name="Text 52"/>
          <p:cNvSpPr txBox="1"/>
          <p:nvPr/>
        </p:nvSpPr>
        <p:spPr>
          <a:xfrm>
            <a:off x="548640" y="6172200"/>
            <a:ext cx="5486400" cy="228600"/>
          </a:xfrm>
          <a:prstGeom prst="rect">
            <a:avLst/>
          </a:prstGeom>
          <a:noFill/>
          <a:ln/>
        </p:spPr>
        <p:txBody>
          <a:bodyPr wrap="square" lIns="0" tIns="0" rIns="0" bIns="0" rtlCol="0" anchor="t"/>
          <a:lstStyle/>
          <a:p>
            <a:pPr indent="0" marL="0">
              <a:buNone/>
            </a:pPr>
            <a:r>
              <a:rPr lang="en-US" sz="1100" dirty="0">
                <a:solidFill>
                  <a:srgbClr val="5B6B85"/>
                </a:solidFill>
                <a:latin typeface="Calibri" pitchFamily="34" charset="0"/>
                <a:ea typeface="Calibri" pitchFamily="34" charset="-122"/>
                <a:cs typeface="Calibri" pitchFamily="34" charset="-120"/>
              </a:rPr>
              <a:t>Conceptual workflow of the proposed platform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9184"/>
            <a:ext cx="7315200" cy="228600"/>
          </a:xfrm>
          <a:prstGeom prst="rect">
            <a:avLst/>
          </a:prstGeom>
          <a:noFill/>
          <a:ln/>
        </p:spPr>
        <p:txBody>
          <a:bodyPr wrap="square" lIns="0" tIns="0" rIns="0" bIns="0" rtlCol="0" anchor="t"/>
          <a:lstStyle/>
          <a:p>
            <a:pPr indent="0" marL="0">
              <a:buNone/>
            </a:pPr>
            <a:r>
              <a:rPr lang="en-US" sz="1100" b="1" spc="400" kern="0" dirty="0">
                <a:solidFill>
                  <a:srgbClr val="22D3EE"/>
                </a:solidFill>
                <a:latin typeface="Calibri" pitchFamily="34" charset="0"/>
                <a:ea typeface="Calibri" pitchFamily="34" charset="-122"/>
                <a:cs typeface="Calibri" pitchFamily="34" charset="-120"/>
              </a:rPr>
              <a:t>04  |  MACHINE LEARNING</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600" b="1" dirty="0">
                <a:solidFill>
                  <a:srgbClr val="F1F5F9"/>
                </a:solidFill>
                <a:latin typeface="Calibri" pitchFamily="34" charset="0"/>
                <a:ea typeface="Calibri" pitchFamily="34" charset="-122"/>
                <a:cs typeface="Calibri" pitchFamily="34" charset="-120"/>
              </a:rPr>
              <a:t>Machine Learning &amp; Candidate Screening</a:t>
            </a:r>
            <a:endParaRPr lang="en-US" sz="3600" dirty="0"/>
          </a:p>
        </p:txBody>
      </p:sp>
      <p:sp>
        <p:nvSpPr>
          <p:cNvPr id="4" name="Shape 2"/>
          <p:cNvSpPr/>
          <p:nvPr/>
        </p:nvSpPr>
        <p:spPr>
          <a:xfrm>
            <a:off x="548640" y="1417320"/>
            <a:ext cx="1554480" cy="777240"/>
          </a:xfrm>
          <a:prstGeom prst="roundRect">
            <a:avLst>
              <a:gd name="adj" fmla="val 11765"/>
            </a:avLst>
          </a:prstGeom>
          <a:solidFill>
            <a:srgbClr val="0B1630">
              <a:alpha val="85000"/>
            </a:srgbClr>
          </a:solidFill>
          <a:ln w="9525">
            <a:solidFill>
              <a:srgbClr val="22D3EE">
                <a:alpha val="60000"/>
              </a:srgbClr>
            </a:solidFill>
            <a:prstDash val="solid"/>
          </a:ln>
        </p:spPr>
      </p:sp>
      <p:sp>
        <p:nvSpPr>
          <p:cNvPr id="5" name="Text 3"/>
          <p:cNvSpPr txBox="1"/>
          <p:nvPr/>
        </p:nvSpPr>
        <p:spPr>
          <a:xfrm>
            <a:off x="621792" y="1417320"/>
            <a:ext cx="1408176" cy="7772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Kepler Features</a:t>
            </a:r>
            <a:endParaRPr lang="en-US" sz="1350" dirty="0"/>
          </a:p>
        </p:txBody>
      </p:sp>
      <p:sp>
        <p:nvSpPr>
          <p:cNvPr id="6" name="Shape 4"/>
          <p:cNvSpPr/>
          <p:nvPr/>
        </p:nvSpPr>
        <p:spPr>
          <a:xfrm>
            <a:off x="2139696" y="1805940"/>
            <a:ext cx="279806" cy="0"/>
          </a:xfrm>
          <a:prstGeom prst="line">
            <a:avLst/>
          </a:prstGeom>
          <a:noFill/>
          <a:ln w="25400">
            <a:solidFill>
              <a:srgbClr val="22D3EE"/>
            </a:solidFill>
            <a:prstDash val="solid"/>
            <a:tailEnd type="triangle"/>
          </a:ln>
        </p:spPr>
      </p:sp>
      <p:sp>
        <p:nvSpPr>
          <p:cNvPr id="7" name="Shape 5"/>
          <p:cNvSpPr/>
          <p:nvPr/>
        </p:nvSpPr>
        <p:spPr>
          <a:xfrm>
            <a:off x="2456078" y="1417320"/>
            <a:ext cx="1554480" cy="777240"/>
          </a:xfrm>
          <a:prstGeom prst="roundRect">
            <a:avLst>
              <a:gd name="adj" fmla="val 11765"/>
            </a:avLst>
          </a:prstGeom>
          <a:solidFill>
            <a:srgbClr val="0B1630">
              <a:alpha val="85000"/>
            </a:srgbClr>
          </a:solidFill>
          <a:ln w="9525">
            <a:solidFill>
              <a:srgbClr val="22D3EE">
                <a:alpha val="60000"/>
              </a:srgbClr>
            </a:solidFill>
            <a:prstDash val="solid"/>
          </a:ln>
        </p:spPr>
      </p:sp>
      <p:sp>
        <p:nvSpPr>
          <p:cNvPr id="8" name="Text 6"/>
          <p:cNvSpPr txBox="1"/>
          <p:nvPr/>
        </p:nvSpPr>
        <p:spPr>
          <a:xfrm>
            <a:off x="2529230" y="1417320"/>
            <a:ext cx="1408176" cy="7772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Model Training</a:t>
            </a:r>
            <a:endParaRPr lang="en-US" sz="1350" dirty="0"/>
          </a:p>
        </p:txBody>
      </p:sp>
      <p:sp>
        <p:nvSpPr>
          <p:cNvPr id="9" name="Shape 7"/>
          <p:cNvSpPr/>
          <p:nvPr/>
        </p:nvSpPr>
        <p:spPr>
          <a:xfrm>
            <a:off x="4047134" y="1805940"/>
            <a:ext cx="279806" cy="0"/>
          </a:xfrm>
          <a:prstGeom prst="line">
            <a:avLst/>
          </a:prstGeom>
          <a:noFill/>
          <a:ln w="25400">
            <a:solidFill>
              <a:srgbClr val="22D3EE"/>
            </a:solidFill>
            <a:prstDash val="solid"/>
            <a:tailEnd type="triangle"/>
          </a:ln>
        </p:spPr>
      </p:sp>
      <p:sp>
        <p:nvSpPr>
          <p:cNvPr id="10" name="Shape 8"/>
          <p:cNvSpPr/>
          <p:nvPr/>
        </p:nvSpPr>
        <p:spPr>
          <a:xfrm>
            <a:off x="4363517" y="1417320"/>
            <a:ext cx="1554480" cy="777240"/>
          </a:xfrm>
          <a:prstGeom prst="roundRect">
            <a:avLst>
              <a:gd name="adj" fmla="val 11765"/>
            </a:avLst>
          </a:prstGeom>
          <a:solidFill>
            <a:srgbClr val="0B1630">
              <a:alpha val="85000"/>
            </a:srgbClr>
          </a:solidFill>
          <a:ln w="9525">
            <a:solidFill>
              <a:srgbClr val="A78BFA">
                <a:alpha val="60000"/>
              </a:srgbClr>
            </a:solidFill>
            <a:prstDash val="solid"/>
          </a:ln>
        </p:spPr>
      </p:sp>
      <p:sp>
        <p:nvSpPr>
          <p:cNvPr id="11" name="Text 9"/>
          <p:cNvSpPr txBox="1"/>
          <p:nvPr/>
        </p:nvSpPr>
        <p:spPr>
          <a:xfrm>
            <a:off x="4436669" y="1417320"/>
            <a:ext cx="1408176" cy="777240"/>
          </a:xfrm>
          <a:prstGeom prst="rect">
            <a:avLst/>
          </a:prstGeom>
          <a:noFill/>
          <a:ln/>
        </p:spPr>
        <p:txBody>
          <a:bodyPr wrap="square" lIns="0" tIns="0" rIns="0" bIns="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Logistic Regression / Random Forest</a:t>
            </a:r>
            <a:endParaRPr lang="en-US" sz="1200" dirty="0"/>
          </a:p>
        </p:txBody>
      </p:sp>
      <p:sp>
        <p:nvSpPr>
          <p:cNvPr id="12" name="Shape 10"/>
          <p:cNvSpPr/>
          <p:nvPr/>
        </p:nvSpPr>
        <p:spPr>
          <a:xfrm>
            <a:off x="5954573" y="1805940"/>
            <a:ext cx="279806" cy="0"/>
          </a:xfrm>
          <a:prstGeom prst="line">
            <a:avLst/>
          </a:prstGeom>
          <a:noFill/>
          <a:ln w="25400">
            <a:solidFill>
              <a:srgbClr val="22D3EE"/>
            </a:solidFill>
            <a:prstDash val="solid"/>
            <a:tailEnd type="triangle"/>
          </a:ln>
        </p:spPr>
      </p:sp>
      <p:sp>
        <p:nvSpPr>
          <p:cNvPr id="13" name="Shape 11"/>
          <p:cNvSpPr/>
          <p:nvPr/>
        </p:nvSpPr>
        <p:spPr>
          <a:xfrm>
            <a:off x="6270955" y="1417320"/>
            <a:ext cx="1554480" cy="777240"/>
          </a:xfrm>
          <a:prstGeom prst="roundRect">
            <a:avLst>
              <a:gd name="adj" fmla="val 11765"/>
            </a:avLst>
          </a:prstGeom>
          <a:solidFill>
            <a:srgbClr val="0B1630">
              <a:alpha val="85000"/>
            </a:srgbClr>
          </a:solidFill>
          <a:ln w="9525">
            <a:solidFill>
              <a:srgbClr val="22D3EE">
                <a:alpha val="60000"/>
              </a:srgbClr>
            </a:solidFill>
            <a:prstDash val="solid"/>
          </a:ln>
        </p:spPr>
      </p:sp>
      <p:sp>
        <p:nvSpPr>
          <p:cNvPr id="14" name="Text 12"/>
          <p:cNvSpPr txBox="1"/>
          <p:nvPr/>
        </p:nvSpPr>
        <p:spPr>
          <a:xfrm>
            <a:off x="6344107" y="1417320"/>
            <a:ext cx="1408176" cy="7772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Classification</a:t>
            </a:r>
            <a:endParaRPr lang="en-US" sz="1350" dirty="0"/>
          </a:p>
        </p:txBody>
      </p:sp>
      <p:sp>
        <p:nvSpPr>
          <p:cNvPr id="15" name="Shape 13"/>
          <p:cNvSpPr/>
          <p:nvPr/>
        </p:nvSpPr>
        <p:spPr>
          <a:xfrm>
            <a:off x="7862011" y="1805940"/>
            <a:ext cx="279806" cy="0"/>
          </a:xfrm>
          <a:prstGeom prst="line">
            <a:avLst/>
          </a:prstGeom>
          <a:noFill/>
          <a:ln w="25400">
            <a:solidFill>
              <a:srgbClr val="22D3EE"/>
            </a:solidFill>
            <a:prstDash val="solid"/>
            <a:tailEnd type="triangle"/>
          </a:ln>
        </p:spPr>
      </p:sp>
      <p:sp>
        <p:nvSpPr>
          <p:cNvPr id="16" name="Shape 14"/>
          <p:cNvSpPr/>
          <p:nvPr/>
        </p:nvSpPr>
        <p:spPr>
          <a:xfrm>
            <a:off x="8178394" y="1417320"/>
            <a:ext cx="1554480" cy="777240"/>
          </a:xfrm>
          <a:prstGeom prst="roundRect">
            <a:avLst>
              <a:gd name="adj" fmla="val 11765"/>
            </a:avLst>
          </a:prstGeom>
          <a:solidFill>
            <a:srgbClr val="0B1630">
              <a:alpha val="85000"/>
            </a:srgbClr>
          </a:solidFill>
          <a:ln w="9525">
            <a:solidFill>
              <a:srgbClr val="22D3EE">
                <a:alpha val="60000"/>
              </a:srgbClr>
            </a:solidFill>
            <a:prstDash val="solid"/>
          </a:ln>
        </p:spPr>
      </p:sp>
      <p:sp>
        <p:nvSpPr>
          <p:cNvPr id="17" name="Text 15"/>
          <p:cNvSpPr txBox="1"/>
          <p:nvPr/>
        </p:nvSpPr>
        <p:spPr>
          <a:xfrm>
            <a:off x="8251546" y="1417320"/>
            <a:ext cx="1408176" cy="7772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Candidate Screening</a:t>
            </a:r>
            <a:endParaRPr lang="en-US" sz="1350" dirty="0"/>
          </a:p>
        </p:txBody>
      </p:sp>
      <p:sp>
        <p:nvSpPr>
          <p:cNvPr id="18" name="Shape 16"/>
          <p:cNvSpPr/>
          <p:nvPr/>
        </p:nvSpPr>
        <p:spPr>
          <a:xfrm>
            <a:off x="9769450" y="1805940"/>
            <a:ext cx="279806" cy="0"/>
          </a:xfrm>
          <a:prstGeom prst="line">
            <a:avLst/>
          </a:prstGeom>
          <a:noFill/>
          <a:ln w="25400">
            <a:solidFill>
              <a:srgbClr val="22D3EE"/>
            </a:solidFill>
            <a:prstDash val="solid"/>
            <a:tailEnd type="triangle"/>
          </a:ln>
        </p:spPr>
      </p:sp>
      <p:sp>
        <p:nvSpPr>
          <p:cNvPr id="19" name="Shape 17"/>
          <p:cNvSpPr/>
          <p:nvPr/>
        </p:nvSpPr>
        <p:spPr>
          <a:xfrm>
            <a:off x="10085832" y="1417320"/>
            <a:ext cx="1554480" cy="777240"/>
          </a:xfrm>
          <a:prstGeom prst="roundRect">
            <a:avLst>
              <a:gd name="adj" fmla="val 11765"/>
            </a:avLst>
          </a:prstGeom>
          <a:solidFill>
            <a:srgbClr val="0B1630">
              <a:alpha val="85000"/>
            </a:srgbClr>
          </a:solidFill>
          <a:ln w="9525">
            <a:solidFill>
              <a:srgbClr val="F5C26B">
                <a:alpha val="60000"/>
              </a:srgbClr>
            </a:solidFill>
            <a:prstDash val="solid"/>
          </a:ln>
        </p:spPr>
      </p:sp>
      <p:sp>
        <p:nvSpPr>
          <p:cNvPr id="20" name="Text 18"/>
          <p:cNvSpPr txBox="1"/>
          <p:nvPr/>
        </p:nvSpPr>
        <p:spPr>
          <a:xfrm>
            <a:off x="10158984" y="1417320"/>
            <a:ext cx="1408176" cy="7772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Priority Level</a:t>
            </a:r>
            <a:endParaRPr lang="en-US" sz="1350" dirty="0"/>
          </a:p>
        </p:txBody>
      </p:sp>
      <p:sp>
        <p:nvSpPr>
          <p:cNvPr id="21" name="Shape 19"/>
          <p:cNvSpPr/>
          <p:nvPr/>
        </p:nvSpPr>
        <p:spPr>
          <a:xfrm>
            <a:off x="548640" y="2423160"/>
            <a:ext cx="3511296" cy="2971800"/>
          </a:xfrm>
          <a:prstGeom prst="roundRect">
            <a:avLst>
              <a:gd name="adj" fmla="val 3692"/>
            </a:avLst>
          </a:prstGeom>
          <a:solidFill>
            <a:srgbClr val="0B1630">
              <a:alpha val="78000"/>
            </a:srgbClr>
          </a:solidFill>
          <a:ln w="9525">
            <a:solidFill>
              <a:srgbClr val="2B4B7E">
                <a:alpha val="65000"/>
              </a:srgbClr>
            </a:solidFill>
            <a:prstDash val="solid"/>
          </a:ln>
        </p:spPr>
      </p:sp>
      <p:sp>
        <p:nvSpPr>
          <p:cNvPr id="22" name="Text 20"/>
          <p:cNvSpPr txBox="1"/>
          <p:nvPr/>
        </p:nvSpPr>
        <p:spPr>
          <a:xfrm>
            <a:off x="777240" y="2587752"/>
            <a:ext cx="4572000" cy="274320"/>
          </a:xfrm>
          <a:prstGeom prst="rect">
            <a:avLst/>
          </a:prstGeom>
          <a:noFill/>
          <a:ln/>
        </p:spPr>
        <p:txBody>
          <a:bodyPr wrap="square" lIns="0" tIns="0" rIns="0" bIns="0" rtlCol="0" anchor="t"/>
          <a:lstStyle/>
          <a:p>
            <a:pPr indent="0" marL="0">
              <a:buNone/>
            </a:pPr>
            <a:r>
              <a:rPr lang="en-US" sz="1200" b="1" spc="300" kern="0" dirty="0">
                <a:solidFill>
                  <a:srgbClr val="A78BFA"/>
                </a:solidFill>
                <a:latin typeface="Calibri" pitchFamily="34" charset="0"/>
                <a:ea typeface="Calibri" pitchFamily="34" charset="-122"/>
                <a:cs typeface="Calibri" pitchFamily="34" charset="-120"/>
              </a:rPr>
              <a:t>THE MODELS</a:t>
            </a:r>
            <a:endParaRPr lang="en-US" sz="1200" dirty="0"/>
          </a:p>
        </p:txBody>
      </p:sp>
      <p:sp>
        <p:nvSpPr>
          <p:cNvPr id="23" name="Shape 21"/>
          <p:cNvSpPr/>
          <p:nvPr/>
        </p:nvSpPr>
        <p:spPr>
          <a:xfrm>
            <a:off x="777240" y="2926080"/>
            <a:ext cx="3063240" cy="384048"/>
          </a:xfrm>
          <a:prstGeom prst="roundRect">
            <a:avLst>
              <a:gd name="adj" fmla="val 50000"/>
            </a:avLst>
          </a:prstGeom>
          <a:solidFill>
            <a:srgbClr val="A78BFA">
              <a:alpha val="18000"/>
            </a:srgbClr>
          </a:solidFill>
          <a:ln w="9525">
            <a:solidFill>
              <a:srgbClr val="A78BFA">
                <a:alpha val="70000"/>
              </a:srgbClr>
            </a:solidFill>
            <a:prstDash val="solid"/>
          </a:ln>
        </p:spPr>
      </p:sp>
      <p:sp>
        <p:nvSpPr>
          <p:cNvPr id="24" name="Text 22"/>
          <p:cNvSpPr txBox="1"/>
          <p:nvPr/>
        </p:nvSpPr>
        <p:spPr>
          <a:xfrm>
            <a:off x="777240" y="2926080"/>
            <a:ext cx="3063240" cy="384048"/>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Logistic Regression</a:t>
            </a:r>
            <a:endParaRPr lang="en-US" sz="1350" dirty="0"/>
          </a:p>
        </p:txBody>
      </p:sp>
      <p:sp>
        <p:nvSpPr>
          <p:cNvPr id="25" name="Shape 23"/>
          <p:cNvSpPr/>
          <p:nvPr/>
        </p:nvSpPr>
        <p:spPr>
          <a:xfrm>
            <a:off x="777240" y="3401568"/>
            <a:ext cx="3063240" cy="384048"/>
          </a:xfrm>
          <a:prstGeom prst="roundRect">
            <a:avLst>
              <a:gd name="adj" fmla="val 50000"/>
            </a:avLst>
          </a:prstGeom>
          <a:solidFill>
            <a:srgbClr val="A78BFA">
              <a:alpha val="18000"/>
            </a:srgbClr>
          </a:solidFill>
          <a:ln w="9525">
            <a:solidFill>
              <a:srgbClr val="A78BFA">
                <a:alpha val="70000"/>
              </a:srgbClr>
            </a:solidFill>
            <a:prstDash val="solid"/>
          </a:ln>
        </p:spPr>
      </p:sp>
      <p:sp>
        <p:nvSpPr>
          <p:cNvPr id="26" name="Text 24"/>
          <p:cNvSpPr txBox="1"/>
          <p:nvPr/>
        </p:nvSpPr>
        <p:spPr>
          <a:xfrm>
            <a:off x="777240" y="3401568"/>
            <a:ext cx="3063240" cy="384048"/>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Random Forest</a:t>
            </a:r>
            <a:endParaRPr lang="en-US" sz="1350" dirty="0"/>
          </a:p>
        </p:txBody>
      </p:sp>
      <p:sp>
        <p:nvSpPr>
          <p:cNvPr id="27" name="Text 25"/>
          <p:cNvSpPr txBox="1"/>
          <p:nvPr/>
        </p:nvSpPr>
        <p:spPr>
          <a:xfrm>
            <a:off x="777240" y="3959352"/>
            <a:ext cx="3108960" cy="13716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1F5F9"/>
                </a:solidFill>
                <a:latin typeface="Calibri" pitchFamily="34" charset="0"/>
                <a:ea typeface="Calibri" pitchFamily="34" charset="-122"/>
                <a:cs typeface="Calibri" pitchFamily="34" charset="-120"/>
              </a:rPr>
              <a:t>Learn patterns from previously classified Kepler objects</a:t>
            </a:r>
            <a:endParaRPr lang="en-US" sz="1250" dirty="0"/>
          </a:p>
          <a:p>
            <a:pPr marL="342900" indent="-342900">
              <a:spcAft>
                <a:spcPts val="500"/>
              </a:spcAft>
              <a:buSzPct val="100000"/>
              <a:buChar char="•"/>
            </a:pPr>
            <a:r>
              <a:rPr lang="en-US" sz="1250" dirty="0">
                <a:solidFill>
                  <a:srgbClr val="F1F5F9"/>
                </a:solidFill>
                <a:latin typeface="Calibri" pitchFamily="34" charset="0"/>
                <a:ea typeface="Calibri" pitchFamily="34" charset="-122"/>
                <a:cs typeface="Calibri" pitchFamily="34" charset="-120"/>
              </a:rPr>
              <a:t>Use multiple parameters together</a:t>
            </a:r>
            <a:endParaRPr lang="en-US" sz="1250" dirty="0"/>
          </a:p>
          <a:p>
            <a:pPr marL="342900" indent="-342900">
              <a:spcAft>
                <a:spcPts val="500"/>
              </a:spcAft>
              <a:buSzPct val="100000"/>
              <a:buChar char="•"/>
            </a:pPr>
            <a:r>
              <a:rPr lang="en-US" sz="1250" dirty="0">
                <a:solidFill>
                  <a:srgbClr val="F1F5F9"/>
                </a:solidFill>
                <a:latin typeface="Calibri" pitchFamily="34" charset="0"/>
                <a:ea typeface="Calibri" pitchFamily="34" charset="-122"/>
                <a:cs typeface="Calibri" pitchFamily="34" charset="-120"/>
              </a:rPr>
              <a:t>Classify candidates from learned patterns</a:t>
            </a:r>
            <a:endParaRPr lang="en-US" sz="1250" dirty="0"/>
          </a:p>
        </p:txBody>
      </p:sp>
      <p:sp>
        <p:nvSpPr>
          <p:cNvPr id="28" name="Shape 26"/>
          <p:cNvSpPr/>
          <p:nvPr/>
        </p:nvSpPr>
        <p:spPr>
          <a:xfrm>
            <a:off x="4334256" y="2423160"/>
            <a:ext cx="3511296" cy="2971800"/>
          </a:xfrm>
          <a:prstGeom prst="roundRect">
            <a:avLst>
              <a:gd name="adj" fmla="val 3692"/>
            </a:avLst>
          </a:prstGeom>
          <a:solidFill>
            <a:srgbClr val="0B1630">
              <a:alpha val="78000"/>
            </a:srgbClr>
          </a:solidFill>
          <a:ln w="9525">
            <a:solidFill>
              <a:srgbClr val="2B4B7E">
                <a:alpha val="65000"/>
              </a:srgbClr>
            </a:solidFill>
            <a:prstDash val="solid"/>
          </a:ln>
        </p:spPr>
      </p:sp>
      <p:sp>
        <p:nvSpPr>
          <p:cNvPr id="29" name="Text 27"/>
          <p:cNvSpPr txBox="1"/>
          <p:nvPr/>
        </p:nvSpPr>
        <p:spPr>
          <a:xfrm>
            <a:off x="4562856" y="2587752"/>
            <a:ext cx="4572000" cy="274320"/>
          </a:xfrm>
          <a:prstGeom prst="rect">
            <a:avLst/>
          </a:prstGeom>
          <a:noFill/>
          <a:ln/>
        </p:spPr>
        <p:txBody>
          <a:bodyPr wrap="square" lIns="0" tIns="0" rIns="0" bIns="0" rtlCol="0" anchor="t"/>
          <a:lstStyle/>
          <a:p>
            <a:pPr indent="0" marL="0">
              <a:buNone/>
            </a:pPr>
            <a:r>
              <a:rPr lang="en-US" sz="1200" b="1" spc="300" kern="0" dirty="0">
                <a:solidFill>
                  <a:srgbClr val="F5C26B"/>
                </a:solidFill>
                <a:latin typeface="Calibri" pitchFamily="34" charset="0"/>
                <a:ea typeface="Calibri" pitchFamily="34" charset="-122"/>
                <a:cs typeface="Calibri" pitchFamily="34" charset="-120"/>
              </a:rPr>
              <a:t>CANDIDATE SCREENING</a:t>
            </a:r>
            <a:endParaRPr lang="en-US" sz="1200" dirty="0"/>
          </a:p>
        </p:txBody>
      </p:sp>
      <p:sp>
        <p:nvSpPr>
          <p:cNvPr id="30" name="Shape 28"/>
          <p:cNvSpPr/>
          <p:nvPr/>
        </p:nvSpPr>
        <p:spPr>
          <a:xfrm>
            <a:off x="4608576" y="3300984"/>
            <a:ext cx="100584" cy="128016"/>
          </a:xfrm>
          <a:prstGeom prst="rect">
            <a:avLst/>
          </a:prstGeom>
          <a:solidFill>
            <a:srgbClr val="F5C26B"/>
          </a:solidFill>
          <a:ln w="3175">
            <a:solidFill>
              <a:srgbClr val="F5C26B"/>
            </a:solidFill>
            <a:prstDash val="solid"/>
          </a:ln>
        </p:spPr>
      </p:sp>
      <p:sp>
        <p:nvSpPr>
          <p:cNvPr id="31" name="Shape 29"/>
          <p:cNvSpPr/>
          <p:nvPr/>
        </p:nvSpPr>
        <p:spPr>
          <a:xfrm>
            <a:off x="4764024" y="3209544"/>
            <a:ext cx="100584" cy="219456"/>
          </a:xfrm>
          <a:prstGeom prst="rect">
            <a:avLst/>
          </a:prstGeom>
          <a:solidFill>
            <a:srgbClr val="F5C26B"/>
          </a:solidFill>
          <a:ln w="3175">
            <a:solidFill>
              <a:srgbClr val="F5C26B"/>
            </a:solidFill>
            <a:prstDash val="solid"/>
          </a:ln>
        </p:spPr>
      </p:sp>
      <p:sp>
        <p:nvSpPr>
          <p:cNvPr id="32" name="Shape 30"/>
          <p:cNvSpPr/>
          <p:nvPr/>
        </p:nvSpPr>
        <p:spPr>
          <a:xfrm>
            <a:off x="4919472" y="3118104"/>
            <a:ext cx="100584" cy="310896"/>
          </a:xfrm>
          <a:prstGeom prst="rect">
            <a:avLst/>
          </a:prstGeom>
          <a:solidFill>
            <a:srgbClr val="F5C26B"/>
          </a:solidFill>
          <a:ln w="3175">
            <a:solidFill>
              <a:srgbClr val="F5C26B"/>
            </a:solidFill>
            <a:prstDash val="solid"/>
          </a:ln>
        </p:spPr>
      </p:sp>
      <p:sp>
        <p:nvSpPr>
          <p:cNvPr id="33" name="Text 31"/>
          <p:cNvSpPr txBox="1"/>
          <p:nvPr/>
        </p:nvSpPr>
        <p:spPr>
          <a:xfrm>
            <a:off x="5202936" y="2971800"/>
            <a:ext cx="2468880" cy="274320"/>
          </a:xfrm>
          <a:prstGeom prst="rect">
            <a:avLst/>
          </a:prstGeom>
          <a:noFill/>
          <a:ln/>
        </p:spPr>
        <p:txBody>
          <a:bodyPr wrap="square" lIns="0" tIns="0" rIns="0" bIns="0" rtlCol="0" anchor="t"/>
          <a:lstStyle/>
          <a:p>
            <a:pPr indent="0" marL="0">
              <a:buNone/>
            </a:pPr>
            <a:r>
              <a:rPr lang="en-US" sz="1500" b="1" dirty="0">
                <a:solidFill>
                  <a:srgbClr val="F5C26B"/>
                </a:solidFill>
                <a:latin typeface="Calibri" pitchFamily="34" charset="0"/>
                <a:ea typeface="Calibri" pitchFamily="34" charset="-122"/>
                <a:cs typeface="Calibri" pitchFamily="34" charset="-120"/>
              </a:rPr>
              <a:t>High Priority</a:t>
            </a:r>
            <a:endParaRPr lang="en-US" sz="1500" dirty="0"/>
          </a:p>
        </p:txBody>
      </p:sp>
      <p:sp>
        <p:nvSpPr>
          <p:cNvPr id="34" name="Text 32"/>
          <p:cNvSpPr txBox="1"/>
          <p:nvPr/>
        </p:nvSpPr>
        <p:spPr>
          <a:xfrm>
            <a:off x="5202936" y="3246120"/>
            <a:ext cx="2468880" cy="22860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Highest follow-up priority</a:t>
            </a:r>
            <a:endParaRPr lang="en-US" sz="1100" dirty="0"/>
          </a:p>
        </p:txBody>
      </p:sp>
      <p:sp>
        <p:nvSpPr>
          <p:cNvPr id="35" name="Shape 33"/>
          <p:cNvSpPr/>
          <p:nvPr/>
        </p:nvSpPr>
        <p:spPr>
          <a:xfrm>
            <a:off x="4608576" y="3922776"/>
            <a:ext cx="100584" cy="128016"/>
          </a:xfrm>
          <a:prstGeom prst="rect">
            <a:avLst/>
          </a:prstGeom>
          <a:solidFill>
            <a:srgbClr val="60A5FA"/>
          </a:solidFill>
          <a:ln w="3175">
            <a:solidFill>
              <a:srgbClr val="60A5FA"/>
            </a:solidFill>
            <a:prstDash val="solid"/>
          </a:ln>
        </p:spPr>
      </p:sp>
      <p:sp>
        <p:nvSpPr>
          <p:cNvPr id="36" name="Shape 34"/>
          <p:cNvSpPr/>
          <p:nvPr/>
        </p:nvSpPr>
        <p:spPr>
          <a:xfrm>
            <a:off x="4764024" y="3831336"/>
            <a:ext cx="100584" cy="219456"/>
          </a:xfrm>
          <a:prstGeom prst="rect">
            <a:avLst/>
          </a:prstGeom>
          <a:solidFill>
            <a:srgbClr val="60A5FA"/>
          </a:solidFill>
          <a:ln w="3175">
            <a:solidFill>
              <a:srgbClr val="60A5FA"/>
            </a:solidFill>
            <a:prstDash val="solid"/>
          </a:ln>
        </p:spPr>
      </p:sp>
      <p:sp>
        <p:nvSpPr>
          <p:cNvPr id="37" name="Shape 35"/>
          <p:cNvSpPr/>
          <p:nvPr/>
        </p:nvSpPr>
        <p:spPr>
          <a:xfrm>
            <a:off x="4919472" y="3739896"/>
            <a:ext cx="100584" cy="310896"/>
          </a:xfrm>
          <a:prstGeom prst="rect">
            <a:avLst/>
          </a:prstGeom>
          <a:solidFill>
            <a:srgbClr val="5B6B85">
              <a:alpha val="50000"/>
            </a:srgbClr>
          </a:solidFill>
          <a:ln w="3175">
            <a:solidFill>
              <a:srgbClr val="5B6B85"/>
            </a:solidFill>
            <a:prstDash val="solid"/>
          </a:ln>
        </p:spPr>
      </p:sp>
      <p:sp>
        <p:nvSpPr>
          <p:cNvPr id="38" name="Text 36"/>
          <p:cNvSpPr txBox="1"/>
          <p:nvPr/>
        </p:nvSpPr>
        <p:spPr>
          <a:xfrm>
            <a:off x="5202936" y="3593592"/>
            <a:ext cx="2468880" cy="274320"/>
          </a:xfrm>
          <a:prstGeom prst="rect">
            <a:avLst/>
          </a:prstGeom>
          <a:noFill/>
          <a:ln/>
        </p:spPr>
        <p:txBody>
          <a:bodyPr wrap="square" lIns="0" tIns="0" rIns="0" bIns="0" rtlCol="0" anchor="t"/>
          <a:lstStyle/>
          <a:p>
            <a:pPr indent="0" marL="0">
              <a:buNone/>
            </a:pPr>
            <a:r>
              <a:rPr lang="en-US" sz="1500" b="1" dirty="0">
                <a:solidFill>
                  <a:srgbClr val="60A5FA"/>
                </a:solidFill>
                <a:latin typeface="Calibri" pitchFamily="34" charset="0"/>
                <a:ea typeface="Calibri" pitchFamily="34" charset="-122"/>
                <a:cs typeface="Calibri" pitchFamily="34" charset="-120"/>
              </a:rPr>
              <a:t>Medium Priority</a:t>
            </a:r>
            <a:endParaRPr lang="en-US" sz="1500" dirty="0"/>
          </a:p>
        </p:txBody>
      </p:sp>
      <p:sp>
        <p:nvSpPr>
          <p:cNvPr id="39" name="Text 37"/>
          <p:cNvSpPr txBox="1"/>
          <p:nvPr/>
        </p:nvSpPr>
        <p:spPr>
          <a:xfrm>
            <a:off x="5202936" y="3867912"/>
            <a:ext cx="2468880" cy="22860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Moderate follow-up priority</a:t>
            </a:r>
            <a:endParaRPr lang="en-US" sz="1100" dirty="0"/>
          </a:p>
        </p:txBody>
      </p:sp>
      <p:sp>
        <p:nvSpPr>
          <p:cNvPr id="40" name="Shape 38"/>
          <p:cNvSpPr/>
          <p:nvPr/>
        </p:nvSpPr>
        <p:spPr>
          <a:xfrm>
            <a:off x="4608576" y="4544568"/>
            <a:ext cx="100584" cy="128016"/>
          </a:xfrm>
          <a:prstGeom prst="rect">
            <a:avLst/>
          </a:prstGeom>
          <a:solidFill>
            <a:srgbClr val="9FB0C8"/>
          </a:solidFill>
          <a:ln w="3175">
            <a:solidFill>
              <a:srgbClr val="9FB0C8"/>
            </a:solidFill>
            <a:prstDash val="solid"/>
          </a:ln>
        </p:spPr>
      </p:sp>
      <p:sp>
        <p:nvSpPr>
          <p:cNvPr id="41" name="Shape 39"/>
          <p:cNvSpPr/>
          <p:nvPr/>
        </p:nvSpPr>
        <p:spPr>
          <a:xfrm>
            <a:off x="4764024" y="4453128"/>
            <a:ext cx="100584" cy="219456"/>
          </a:xfrm>
          <a:prstGeom prst="rect">
            <a:avLst/>
          </a:prstGeom>
          <a:solidFill>
            <a:srgbClr val="5B6B85">
              <a:alpha val="50000"/>
            </a:srgbClr>
          </a:solidFill>
          <a:ln w="3175">
            <a:solidFill>
              <a:srgbClr val="5B6B85"/>
            </a:solidFill>
            <a:prstDash val="solid"/>
          </a:ln>
        </p:spPr>
      </p:sp>
      <p:sp>
        <p:nvSpPr>
          <p:cNvPr id="42" name="Shape 40"/>
          <p:cNvSpPr/>
          <p:nvPr/>
        </p:nvSpPr>
        <p:spPr>
          <a:xfrm>
            <a:off x="4919472" y="4361688"/>
            <a:ext cx="100584" cy="310896"/>
          </a:xfrm>
          <a:prstGeom prst="rect">
            <a:avLst/>
          </a:prstGeom>
          <a:solidFill>
            <a:srgbClr val="5B6B85">
              <a:alpha val="50000"/>
            </a:srgbClr>
          </a:solidFill>
          <a:ln w="3175">
            <a:solidFill>
              <a:srgbClr val="5B6B85"/>
            </a:solidFill>
            <a:prstDash val="solid"/>
          </a:ln>
        </p:spPr>
      </p:sp>
      <p:sp>
        <p:nvSpPr>
          <p:cNvPr id="43" name="Text 41"/>
          <p:cNvSpPr txBox="1"/>
          <p:nvPr/>
        </p:nvSpPr>
        <p:spPr>
          <a:xfrm>
            <a:off x="5202936" y="4215384"/>
            <a:ext cx="2468880" cy="274320"/>
          </a:xfrm>
          <a:prstGeom prst="rect">
            <a:avLst/>
          </a:prstGeom>
          <a:noFill/>
          <a:ln/>
        </p:spPr>
        <p:txBody>
          <a:bodyPr wrap="square" lIns="0" tIns="0" rIns="0" bIns="0" rtlCol="0" anchor="t"/>
          <a:lstStyle/>
          <a:p>
            <a:pPr indent="0" marL="0">
              <a:buNone/>
            </a:pPr>
            <a:r>
              <a:rPr lang="en-US" sz="1500" b="1" dirty="0">
                <a:solidFill>
                  <a:srgbClr val="9FB0C8"/>
                </a:solidFill>
                <a:latin typeface="Calibri" pitchFamily="34" charset="0"/>
                <a:ea typeface="Calibri" pitchFamily="34" charset="-122"/>
                <a:cs typeface="Calibri" pitchFamily="34" charset="-120"/>
              </a:rPr>
              <a:t>Low Priority</a:t>
            </a:r>
            <a:endParaRPr lang="en-US" sz="1500" dirty="0"/>
          </a:p>
        </p:txBody>
      </p:sp>
      <p:sp>
        <p:nvSpPr>
          <p:cNvPr id="44" name="Text 42"/>
          <p:cNvSpPr txBox="1"/>
          <p:nvPr/>
        </p:nvSpPr>
        <p:spPr>
          <a:xfrm>
            <a:off x="5202936" y="4489704"/>
            <a:ext cx="2468880" cy="22860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Lower follow-up priority</a:t>
            </a:r>
            <a:endParaRPr lang="en-US" sz="1100" dirty="0"/>
          </a:p>
        </p:txBody>
      </p:sp>
      <p:sp>
        <p:nvSpPr>
          <p:cNvPr id="45" name="Text 43"/>
          <p:cNvSpPr txBox="1"/>
          <p:nvPr/>
        </p:nvSpPr>
        <p:spPr>
          <a:xfrm>
            <a:off x="4562856" y="4873752"/>
            <a:ext cx="3054096" cy="411480"/>
          </a:xfrm>
          <a:prstGeom prst="rect">
            <a:avLst/>
          </a:prstGeom>
          <a:noFill/>
          <a:ln/>
        </p:spPr>
        <p:txBody>
          <a:bodyPr wrap="square" lIns="0" tIns="0" rIns="0" bIns="0" rtlCol="0" anchor="t"/>
          <a:lstStyle/>
          <a:p>
            <a:pPr indent="0" marL="0">
              <a:buNone/>
            </a:pPr>
            <a:r>
              <a:rPr lang="en-US" sz="1100" i="1" dirty="0">
                <a:solidFill>
                  <a:srgbClr val="9FB0C8"/>
                </a:solidFill>
                <a:latin typeface="Calibri" pitchFamily="34" charset="0"/>
                <a:ea typeface="Calibri" pitchFamily="34" charset="-122"/>
                <a:cs typeface="Calibri" pitchFamily="34" charset="-120"/>
              </a:rPr>
              <a:t>Assigned using the implemented screening criteria.</a:t>
            </a:r>
            <a:endParaRPr lang="en-US" sz="1100" dirty="0"/>
          </a:p>
        </p:txBody>
      </p:sp>
      <p:sp>
        <p:nvSpPr>
          <p:cNvPr id="46" name="Shape 44"/>
          <p:cNvSpPr/>
          <p:nvPr/>
        </p:nvSpPr>
        <p:spPr>
          <a:xfrm>
            <a:off x="8119872" y="2423160"/>
            <a:ext cx="3511296" cy="2971800"/>
          </a:xfrm>
          <a:prstGeom prst="roundRect">
            <a:avLst>
              <a:gd name="adj" fmla="val 3692"/>
            </a:avLst>
          </a:prstGeom>
          <a:solidFill>
            <a:srgbClr val="0B1630">
              <a:alpha val="78000"/>
            </a:srgbClr>
          </a:solidFill>
          <a:ln w="9525">
            <a:solidFill>
              <a:srgbClr val="2B4B7E">
                <a:alpha val="65000"/>
              </a:srgbClr>
            </a:solidFill>
            <a:prstDash val="solid"/>
          </a:ln>
        </p:spPr>
      </p:sp>
      <p:sp>
        <p:nvSpPr>
          <p:cNvPr id="47" name="Text 45"/>
          <p:cNvSpPr txBox="1"/>
          <p:nvPr/>
        </p:nvSpPr>
        <p:spPr>
          <a:xfrm>
            <a:off x="8348472" y="2587752"/>
            <a:ext cx="4572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FEATURE IMPORTANCE</a:t>
            </a:r>
            <a:endParaRPr lang="en-US" sz="1200" dirty="0"/>
          </a:p>
        </p:txBody>
      </p:sp>
      <p:sp>
        <p:nvSpPr>
          <p:cNvPr id="48" name="Text 46"/>
          <p:cNvSpPr txBox="1"/>
          <p:nvPr/>
        </p:nvSpPr>
        <p:spPr>
          <a:xfrm>
            <a:off x="8348472" y="2990088"/>
            <a:ext cx="1234440" cy="274320"/>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koi_period</a:t>
            </a:r>
            <a:endParaRPr lang="en-US" sz="1050" dirty="0"/>
          </a:p>
        </p:txBody>
      </p:sp>
      <p:sp>
        <p:nvSpPr>
          <p:cNvPr id="49" name="Shape 47"/>
          <p:cNvSpPr/>
          <p:nvPr/>
        </p:nvSpPr>
        <p:spPr>
          <a:xfrm>
            <a:off x="9628632" y="3017520"/>
            <a:ext cx="1737360" cy="219456"/>
          </a:xfrm>
          <a:prstGeom prst="roundRect">
            <a:avLst>
              <a:gd name="adj" fmla="val 25000"/>
            </a:avLst>
          </a:prstGeom>
          <a:solidFill>
            <a:srgbClr val="A78BFA">
              <a:alpha val="45000"/>
            </a:srgbClr>
          </a:solidFill>
          <a:ln w="9525">
            <a:solidFill>
              <a:srgbClr val="A78BFA">
                <a:alpha val="80000"/>
              </a:srgbClr>
            </a:solidFill>
            <a:prstDash val="dash"/>
          </a:ln>
        </p:spPr>
      </p:sp>
      <p:sp>
        <p:nvSpPr>
          <p:cNvPr id="50" name="Text 48"/>
          <p:cNvSpPr txBox="1"/>
          <p:nvPr/>
        </p:nvSpPr>
        <p:spPr>
          <a:xfrm>
            <a:off x="8348472" y="3374136"/>
            <a:ext cx="1234440" cy="274320"/>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koi_prad</a:t>
            </a:r>
            <a:endParaRPr lang="en-US" sz="1050" dirty="0"/>
          </a:p>
        </p:txBody>
      </p:sp>
      <p:sp>
        <p:nvSpPr>
          <p:cNvPr id="51" name="Shape 49"/>
          <p:cNvSpPr/>
          <p:nvPr/>
        </p:nvSpPr>
        <p:spPr>
          <a:xfrm>
            <a:off x="9628632" y="3401568"/>
            <a:ext cx="1463040" cy="219456"/>
          </a:xfrm>
          <a:prstGeom prst="roundRect">
            <a:avLst>
              <a:gd name="adj" fmla="val 25000"/>
            </a:avLst>
          </a:prstGeom>
          <a:solidFill>
            <a:srgbClr val="A78BFA">
              <a:alpha val="45000"/>
            </a:srgbClr>
          </a:solidFill>
          <a:ln w="9525">
            <a:solidFill>
              <a:srgbClr val="A78BFA">
                <a:alpha val="80000"/>
              </a:srgbClr>
            </a:solidFill>
            <a:prstDash val="dash"/>
          </a:ln>
        </p:spPr>
      </p:sp>
      <p:sp>
        <p:nvSpPr>
          <p:cNvPr id="52" name="Text 50"/>
          <p:cNvSpPr txBox="1"/>
          <p:nvPr/>
        </p:nvSpPr>
        <p:spPr>
          <a:xfrm>
            <a:off x="8348472" y="3758184"/>
            <a:ext cx="1234440" cy="274320"/>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koi_depth</a:t>
            </a:r>
            <a:endParaRPr lang="en-US" sz="1050" dirty="0"/>
          </a:p>
        </p:txBody>
      </p:sp>
      <p:sp>
        <p:nvSpPr>
          <p:cNvPr id="53" name="Shape 51"/>
          <p:cNvSpPr/>
          <p:nvPr/>
        </p:nvSpPr>
        <p:spPr>
          <a:xfrm>
            <a:off x="9628632" y="3785616"/>
            <a:ext cx="1234440" cy="219456"/>
          </a:xfrm>
          <a:prstGeom prst="roundRect">
            <a:avLst>
              <a:gd name="adj" fmla="val 25000"/>
            </a:avLst>
          </a:prstGeom>
          <a:solidFill>
            <a:srgbClr val="A78BFA">
              <a:alpha val="45000"/>
            </a:srgbClr>
          </a:solidFill>
          <a:ln w="9525">
            <a:solidFill>
              <a:srgbClr val="A78BFA">
                <a:alpha val="80000"/>
              </a:srgbClr>
            </a:solidFill>
            <a:prstDash val="dash"/>
          </a:ln>
        </p:spPr>
      </p:sp>
      <p:sp>
        <p:nvSpPr>
          <p:cNvPr id="54" name="Text 52"/>
          <p:cNvSpPr txBox="1"/>
          <p:nvPr/>
        </p:nvSpPr>
        <p:spPr>
          <a:xfrm>
            <a:off x="8348472" y="4142232"/>
            <a:ext cx="1234440" cy="274320"/>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koi_model_snr</a:t>
            </a:r>
            <a:endParaRPr lang="en-US" sz="1050" dirty="0"/>
          </a:p>
        </p:txBody>
      </p:sp>
      <p:sp>
        <p:nvSpPr>
          <p:cNvPr id="55" name="Shape 53"/>
          <p:cNvSpPr/>
          <p:nvPr/>
        </p:nvSpPr>
        <p:spPr>
          <a:xfrm>
            <a:off x="9628632" y="4169664"/>
            <a:ext cx="1005840" cy="219456"/>
          </a:xfrm>
          <a:prstGeom prst="roundRect">
            <a:avLst>
              <a:gd name="adj" fmla="val 25000"/>
            </a:avLst>
          </a:prstGeom>
          <a:solidFill>
            <a:srgbClr val="A78BFA">
              <a:alpha val="45000"/>
            </a:srgbClr>
          </a:solidFill>
          <a:ln w="9525">
            <a:solidFill>
              <a:srgbClr val="A78BFA">
                <a:alpha val="80000"/>
              </a:srgbClr>
            </a:solidFill>
            <a:prstDash val="dash"/>
          </a:ln>
        </p:spPr>
      </p:sp>
      <p:sp>
        <p:nvSpPr>
          <p:cNvPr id="56" name="Text 54"/>
          <p:cNvSpPr txBox="1"/>
          <p:nvPr/>
        </p:nvSpPr>
        <p:spPr>
          <a:xfrm>
            <a:off x="8348472" y="4526280"/>
            <a:ext cx="1234440" cy="274320"/>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koi_teq</a:t>
            </a:r>
            <a:endParaRPr lang="en-US" sz="1050" dirty="0"/>
          </a:p>
        </p:txBody>
      </p:sp>
      <p:sp>
        <p:nvSpPr>
          <p:cNvPr id="57" name="Shape 55"/>
          <p:cNvSpPr/>
          <p:nvPr/>
        </p:nvSpPr>
        <p:spPr>
          <a:xfrm>
            <a:off x="9628632" y="4553712"/>
            <a:ext cx="731520" cy="219456"/>
          </a:xfrm>
          <a:prstGeom prst="roundRect">
            <a:avLst>
              <a:gd name="adj" fmla="val 25000"/>
            </a:avLst>
          </a:prstGeom>
          <a:solidFill>
            <a:srgbClr val="A78BFA">
              <a:alpha val="45000"/>
            </a:srgbClr>
          </a:solidFill>
          <a:ln w="9525">
            <a:solidFill>
              <a:srgbClr val="A78BFA">
                <a:alpha val="80000"/>
              </a:srgbClr>
            </a:solidFill>
            <a:prstDash val="dash"/>
          </a:ln>
        </p:spPr>
      </p:sp>
      <p:sp>
        <p:nvSpPr>
          <p:cNvPr id="58" name="Text 56"/>
          <p:cNvSpPr txBox="1"/>
          <p:nvPr/>
        </p:nvSpPr>
        <p:spPr>
          <a:xfrm>
            <a:off x="8348472" y="4910328"/>
            <a:ext cx="3054096" cy="411480"/>
          </a:xfrm>
          <a:prstGeom prst="rect">
            <a:avLst/>
          </a:prstGeom>
          <a:noFill/>
          <a:ln/>
        </p:spPr>
        <p:txBody>
          <a:bodyPr wrap="square" lIns="0" tIns="0" rIns="0" bIns="0" rtlCol="0" anchor="t"/>
          <a:lstStyle/>
          <a:p>
            <a:pPr indent="0" marL="0">
              <a:buNone/>
            </a:pPr>
            <a:r>
              <a:rPr lang="en-US" sz="1050" i="1" dirty="0">
                <a:solidFill>
                  <a:srgbClr val="9FB0C8"/>
                </a:solidFill>
                <a:latin typeface="Calibri" pitchFamily="34" charset="0"/>
                <a:ea typeface="Calibri" pitchFamily="34" charset="-122"/>
                <a:cs typeface="Calibri" pitchFamily="34" charset="-120"/>
              </a:rPr>
              <a:t>Conceptual layout — not model output. Actual importances come from the trained model.</a:t>
            </a:r>
            <a:endParaRPr lang="en-US" sz="1050" dirty="0"/>
          </a:p>
        </p:txBody>
      </p:sp>
      <p:sp>
        <p:nvSpPr>
          <p:cNvPr id="59" name="Shape 57"/>
          <p:cNvSpPr/>
          <p:nvPr/>
        </p:nvSpPr>
        <p:spPr>
          <a:xfrm>
            <a:off x="548640" y="5577840"/>
            <a:ext cx="11091672" cy="731520"/>
          </a:xfrm>
          <a:prstGeom prst="roundRect">
            <a:avLst>
              <a:gd name="adj" fmla="val 15000"/>
            </a:avLst>
          </a:prstGeom>
          <a:solidFill>
            <a:srgbClr val="F5C26B">
              <a:alpha val="12000"/>
            </a:srgbClr>
          </a:solidFill>
          <a:ln w="9525">
            <a:solidFill>
              <a:srgbClr val="F5C26B">
                <a:alpha val="70000"/>
              </a:srgbClr>
            </a:solidFill>
            <a:prstDash val="solid"/>
          </a:ln>
        </p:spPr>
      </p:sp>
      <p:pic>
        <p:nvPicPr>
          <p:cNvPr id="60" name="Image 0" descr="preencoded.png">    </p:cNvPr>
          <p:cNvPicPr>
            <a:picLocks noChangeAspect="1"/>
          </p:cNvPicPr>
          <p:nvPr/>
        </p:nvPicPr>
        <p:blipFill>
          <a:blip r:embed="rId2"/>
          <a:stretch>
            <a:fillRect/>
          </a:stretch>
        </p:blipFill>
        <p:spPr>
          <a:xfrm>
            <a:off x="777240" y="5742432"/>
            <a:ext cx="384048" cy="384048"/>
          </a:xfrm>
          <a:prstGeom prst="rect">
            <a:avLst/>
          </a:prstGeom>
        </p:spPr>
      </p:pic>
      <p:sp>
        <p:nvSpPr>
          <p:cNvPr id="61" name="Text 58"/>
          <p:cNvSpPr txBox="1"/>
          <p:nvPr/>
        </p:nvSpPr>
        <p:spPr>
          <a:xfrm>
            <a:off x="1371600" y="5577840"/>
            <a:ext cx="10058400" cy="7315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This screening prioritizes candidates for further investigation; it does not scientifically confirm whether a planet is real or false.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9184"/>
            <a:ext cx="7315200" cy="228600"/>
          </a:xfrm>
          <a:prstGeom prst="rect">
            <a:avLst/>
          </a:prstGeom>
          <a:noFill/>
          <a:ln/>
        </p:spPr>
        <p:txBody>
          <a:bodyPr wrap="square" lIns="0" tIns="0" rIns="0" bIns="0" rtlCol="0" anchor="t"/>
          <a:lstStyle/>
          <a:p>
            <a:pPr indent="0" marL="0">
              <a:buNone/>
            </a:pPr>
            <a:r>
              <a:rPr lang="en-US" sz="1100" b="1" spc="400" kern="0" dirty="0">
                <a:solidFill>
                  <a:srgbClr val="22D3EE"/>
                </a:solidFill>
                <a:latin typeface="Calibri" pitchFamily="34" charset="0"/>
                <a:ea typeface="Calibri" pitchFamily="34" charset="-122"/>
                <a:cs typeface="Calibri" pitchFamily="34" charset="-120"/>
              </a:rPr>
              <a:t>05  |  ANALYSIS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600" b="1" dirty="0">
                <a:solidFill>
                  <a:srgbClr val="F1F5F9"/>
                </a:solidFill>
                <a:latin typeface="Calibri" pitchFamily="34" charset="0"/>
                <a:ea typeface="Calibri" pitchFamily="34" charset="-122"/>
                <a:cs typeface="Calibri" pitchFamily="34" charset="-120"/>
              </a:rPr>
              <a:t>Understanding Transit Events</a:t>
            </a:r>
            <a:endParaRPr lang="en-US" sz="3600" dirty="0"/>
          </a:p>
        </p:txBody>
      </p:sp>
      <p:sp>
        <p:nvSpPr>
          <p:cNvPr id="4" name="Shape 2"/>
          <p:cNvSpPr/>
          <p:nvPr/>
        </p:nvSpPr>
        <p:spPr>
          <a:xfrm>
            <a:off x="548640" y="1371600"/>
            <a:ext cx="6675120" cy="2971800"/>
          </a:xfrm>
          <a:prstGeom prst="roundRect">
            <a:avLst>
              <a:gd name="adj" fmla="val 3692"/>
            </a:avLst>
          </a:prstGeom>
          <a:solidFill>
            <a:srgbClr val="0B1630">
              <a:alpha val="78000"/>
            </a:srgbClr>
          </a:solidFill>
          <a:ln w="9525">
            <a:solidFill>
              <a:srgbClr val="2B4B7E">
                <a:alpha val="65000"/>
              </a:srgbClr>
            </a:solidFill>
            <a:prstDash val="solid"/>
          </a:ln>
        </p:spPr>
      </p:sp>
      <p:sp>
        <p:nvSpPr>
          <p:cNvPr id="5" name="Text 3"/>
          <p:cNvSpPr txBox="1"/>
          <p:nvPr/>
        </p:nvSpPr>
        <p:spPr>
          <a:xfrm>
            <a:off x="777240" y="1481328"/>
            <a:ext cx="4572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TRANSIT LIGHT CURVE  ·  CONCEPTUAL</a:t>
            </a:r>
            <a:endParaRPr lang="en-US" sz="1200" dirty="0"/>
          </a:p>
        </p:txBody>
      </p:sp>
      <p:sp>
        <p:nvSpPr>
          <p:cNvPr id="6" name="Shape 4"/>
          <p:cNvSpPr/>
          <p:nvPr/>
        </p:nvSpPr>
        <p:spPr>
          <a:xfrm>
            <a:off x="1097280" y="1920240"/>
            <a:ext cx="0" cy="1783080"/>
          </a:xfrm>
          <a:prstGeom prst="line">
            <a:avLst/>
          </a:prstGeom>
          <a:noFill/>
          <a:ln w="12700">
            <a:solidFill>
              <a:srgbClr val="5B6B85"/>
            </a:solidFill>
            <a:prstDash val="solid"/>
          </a:ln>
        </p:spPr>
      </p:sp>
      <p:sp>
        <p:nvSpPr>
          <p:cNvPr id="7" name="Shape 5"/>
          <p:cNvSpPr/>
          <p:nvPr/>
        </p:nvSpPr>
        <p:spPr>
          <a:xfrm>
            <a:off x="1097280" y="3703320"/>
            <a:ext cx="5852160" cy="0"/>
          </a:xfrm>
          <a:prstGeom prst="line">
            <a:avLst/>
          </a:prstGeom>
          <a:noFill/>
          <a:ln w="12700">
            <a:solidFill>
              <a:srgbClr val="5B6B85"/>
            </a:solidFill>
            <a:prstDash val="solid"/>
          </a:ln>
        </p:spPr>
      </p:sp>
      <p:sp>
        <p:nvSpPr>
          <p:cNvPr id="8" name="Shape 6"/>
          <p:cNvSpPr/>
          <p:nvPr/>
        </p:nvSpPr>
        <p:spPr>
          <a:xfrm>
            <a:off x="1097280" y="2286000"/>
            <a:ext cx="5852160" cy="0"/>
          </a:xfrm>
          <a:prstGeom prst="line">
            <a:avLst/>
          </a:prstGeom>
          <a:noFill/>
          <a:ln w="9525">
            <a:solidFill>
              <a:srgbClr val="5B6B85">
                <a:alpha val="60000"/>
              </a:srgbClr>
            </a:solidFill>
            <a:prstDash val="dash"/>
          </a:ln>
        </p:spPr>
      </p:sp>
      <p:sp>
        <p:nvSpPr>
          <p:cNvPr id="9" name="Text 7"/>
          <p:cNvSpPr txBox="1"/>
          <p:nvPr/>
        </p:nvSpPr>
        <p:spPr>
          <a:xfrm rot="16200000">
            <a:off x="182880" y="2697480"/>
            <a:ext cx="1463040" cy="228600"/>
          </a:xfrm>
          <a:prstGeom prst="rect">
            <a:avLst/>
          </a:prstGeom>
          <a:noFill/>
          <a:ln/>
        </p:spPr>
        <p:txBody>
          <a:bodyPr wrap="square" lIns="0" tIns="0" rIns="0" bIns="0" rtlCol="0" anchor="t"/>
          <a:lstStyle/>
          <a:p>
            <a:pPr algn="ctr" indent="0" marL="0">
              <a:buNone/>
            </a:pPr>
            <a:r>
              <a:rPr lang="en-US" sz="1050" dirty="0">
                <a:solidFill>
                  <a:srgbClr val="9FB0C8"/>
                </a:solidFill>
                <a:latin typeface="Calibri" pitchFamily="34" charset="0"/>
                <a:ea typeface="Calibri" pitchFamily="34" charset="-122"/>
                <a:cs typeface="Calibri" pitchFamily="34" charset="-120"/>
              </a:rPr>
              <a:t>Relative brightness</a:t>
            </a:r>
            <a:endParaRPr lang="en-US" sz="1050" dirty="0"/>
          </a:p>
        </p:txBody>
      </p:sp>
      <p:sp>
        <p:nvSpPr>
          <p:cNvPr id="10" name="Text 8"/>
          <p:cNvSpPr txBox="1"/>
          <p:nvPr/>
        </p:nvSpPr>
        <p:spPr>
          <a:xfrm>
            <a:off x="6035040" y="3749040"/>
            <a:ext cx="914400" cy="201168"/>
          </a:xfrm>
          <a:prstGeom prst="rect">
            <a:avLst/>
          </a:prstGeom>
          <a:noFill/>
          <a:ln/>
        </p:spPr>
        <p:txBody>
          <a:bodyPr wrap="square" lIns="0" tIns="0" rIns="0" bIns="0" rtlCol="0" anchor="t"/>
          <a:lstStyle/>
          <a:p>
            <a:pPr algn="r" indent="0" marL="0">
              <a:buNone/>
            </a:pPr>
            <a:r>
              <a:rPr lang="en-US" sz="1050" dirty="0">
                <a:solidFill>
                  <a:srgbClr val="9FB0C8"/>
                </a:solidFill>
                <a:latin typeface="Calibri" pitchFamily="34" charset="0"/>
                <a:ea typeface="Calibri" pitchFamily="34" charset="-122"/>
                <a:cs typeface="Calibri" pitchFamily="34" charset="-120"/>
              </a:rPr>
              <a:t>Time</a:t>
            </a:r>
            <a:endParaRPr lang="en-US" sz="1050" dirty="0"/>
          </a:p>
        </p:txBody>
      </p:sp>
      <p:sp>
        <p:nvSpPr>
          <p:cNvPr id="11" name="Shape 9"/>
          <p:cNvSpPr/>
          <p:nvPr/>
        </p:nvSpPr>
        <p:spPr>
          <a:xfrm>
            <a:off x="1097280" y="2286000"/>
            <a:ext cx="5852160" cy="731520"/>
          </a:xfrm>
          <a:custGeom>
            <a:avLst/>
            <a:gdLst/>
            <a:ahLst/>
            <a:cxnLst/>
            <a:rect l="l" t="t" r="r" b="b"/>
            <a:pathLst>
              <a:path w="5852160" h="731520">
                <a:moveTo>
                  <a:pt x="0" y="0"/>
                </a:moveTo>
                <a:lnTo>
                  <a:pt x="36576" y="0"/>
                </a:lnTo>
                <a:lnTo>
                  <a:pt x="73152" y="0"/>
                </a:lnTo>
                <a:lnTo>
                  <a:pt x="109728" y="0"/>
                </a:lnTo>
                <a:lnTo>
                  <a:pt x="146304" y="0"/>
                </a:lnTo>
                <a:lnTo>
                  <a:pt x="182880" y="0"/>
                </a:lnTo>
                <a:lnTo>
                  <a:pt x="219456" y="0"/>
                </a:lnTo>
                <a:lnTo>
                  <a:pt x="256032" y="0"/>
                </a:lnTo>
                <a:lnTo>
                  <a:pt x="292608" y="0"/>
                </a:lnTo>
                <a:lnTo>
                  <a:pt x="329184" y="0"/>
                </a:lnTo>
                <a:lnTo>
                  <a:pt x="365760" y="0"/>
                </a:lnTo>
                <a:lnTo>
                  <a:pt x="402336" y="0"/>
                </a:lnTo>
                <a:lnTo>
                  <a:pt x="438912" y="0"/>
                </a:lnTo>
                <a:lnTo>
                  <a:pt x="475488" y="0"/>
                </a:lnTo>
                <a:lnTo>
                  <a:pt x="512064" y="0"/>
                </a:lnTo>
                <a:lnTo>
                  <a:pt x="548640" y="0"/>
                </a:lnTo>
                <a:lnTo>
                  <a:pt x="585216" y="0"/>
                </a:lnTo>
                <a:lnTo>
                  <a:pt x="621792" y="0"/>
                </a:lnTo>
                <a:lnTo>
                  <a:pt x="658368" y="0"/>
                </a:lnTo>
                <a:lnTo>
                  <a:pt x="694944" y="0"/>
                </a:lnTo>
                <a:lnTo>
                  <a:pt x="731520" y="0"/>
                </a:lnTo>
                <a:lnTo>
                  <a:pt x="768096" y="0"/>
                </a:lnTo>
                <a:lnTo>
                  <a:pt x="804672" y="0"/>
                </a:lnTo>
                <a:lnTo>
                  <a:pt x="841248" y="0"/>
                </a:lnTo>
                <a:lnTo>
                  <a:pt x="877824" y="0"/>
                </a:lnTo>
                <a:lnTo>
                  <a:pt x="914400" y="0"/>
                </a:lnTo>
                <a:lnTo>
                  <a:pt x="950976" y="0"/>
                </a:lnTo>
                <a:lnTo>
                  <a:pt x="987552" y="0"/>
                </a:lnTo>
                <a:lnTo>
                  <a:pt x="1024128" y="0"/>
                </a:lnTo>
                <a:lnTo>
                  <a:pt x="1060704" y="0"/>
                </a:lnTo>
                <a:lnTo>
                  <a:pt x="1097280" y="0"/>
                </a:lnTo>
                <a:lnTo>
                  <a:pt x="1133856" y="18473"/>
                </a:lnTo>
                <a:lnTo>
                  <a:pt x="1170432" y="123941"/>
                </a:lnTo>
                <a:lnTo>
                  <a:pt x="1207008" y="292327"/>
                </a:lnTo>
                <a:lnTo>
                  <a:pt x="1243584" y="472012"/>
                </a:lnTo>
                <a:lnTo>
                  <a:pt x="1280160" y="607912"/>
                </a:lnTo>
                <a:lnTo>
                  <a:pt x="1316736" y="658368"/>
                </a:lnTo>
                <a:lnTo>
                  <a:pt x="1353312" y="677277"/>
                </a:lnTo>
                <a:lnTo>
                  <a:pt x="1389888" y="693364"/>
                </a:lnTo>
                <a:lnTo>
                  <a:pt x="1426464" y="706628"/>
                </a:lnTo>
                <a:lnTo>
                  <a:pt x="1463040" y="717070"/>
                </a:lnTo>
                <a:lnTo>
                  <a:pt x="1499616" y="724690"/>
                </a:lnTo>
                <a:lnTo>
                  <a:pt x="1536192" y="729488"/>
                </a:lnTo>
                <a:lnTo>
                  <a:pt x="1572768" y="731464"/>
                </a:lnTo>
                <a:lnTo>
                  <a:pt x="1609344" y="730617"/>
                </a:lnTo>
                <a:lnTo>
                  <a:pt x="1645920" y="726948"/>
                </a:lnTo>
                <a:lnTo>
                  <a:pt x="1682496" y="720457"/>
                </a:lnTo>
                <a:lnTo>
                  <a:pt x="1719072" y="711144"/>
                </a:lnTo>
                <a:lnTo>
                  <a:pt x="1755648" y="699008"/>
                </a:lnTo>
                <a:lnTo>
                  <a:pt x="1792224" y="684050"/>
                </a:lnTo>
                <a:lnTo>
                  <a:pt x="1828800" y="666270"/>
                </a:lnTo>
                <a:lnTo>
                  <a:pt x="1865376" y="639895"/>
                </a:lnTo>
                <a:lnTo>
                  <a:pt x="1901952" y="534427"/>
                </a:lnTo>
                <a:lnTo>
                  <a:pt x="1938528" y="366041"/>
                </a:lnTo>
                <a:lnTo>
                  <a:pt x="1975104" y="186356"/>
                </a:lnTo>
                <a:lnTo>
                  <a:pt x="2011680" y="50456"/>
                </a:lnTo>
                <a:lnTo>
                  <a:pt x="2048256" y="0"/>
                </a:lnTo>
                <a:lnTo>
                  <a:pt x="2084832" y="0"/>
                </a:lnTo>
                <a:lnTo>
                  <a:pt x="2121408" y="0"/>
                </a:lnTo>
                <a:lnTo>
                  <a:pt x="2157984" y="0"/>
                </a:lnTo>
                <a:lnTo>
                  <a:pt x="2194560" y="0"/>
                </a:lnTo>
                <a:lnTo>
                  <a:pt x="2231136" y="0"/>
                </a:lnTo>
                <a:lnTo>
                  <a:pt x="2267712" y="0"/>
                </a:lnTo>
                <a:lnTo>
                  <a:pt x="2304288" y="0"/>
                </a:lnTo>
                <a:lnTo>
                  <a:pt x="2340864" y="0"/>
                </a:lnTo>
                <a:lnTo>
                  <a:pt x="2377440" y="0"/>
                </a:lnTo>
                <a:lnTo>
                  <a:pt x="2414016" y="0"/>
                </a:lnTo>
                <a:lnTo>
                  <a:pt x="2450592" y="0"/>
                </a:lnTo>
                <a:lnTo>
                  <a:pt x="2487168" y="0"/>
                </a:lnTo>
                <a:lnTo>
                  <a:pt x="2523744" y="0"/>
                </a:lnTo>
                <a:lnTo>
                  <a:pt x="2560320" y="0"/>
                </a:lnTo>
                <a:lnTo>
                  <a:pt x="2596896" y="0"/>
                </a:lnTo>
                <a:lnTo>
                  <a:pt x="2633472" y="0"/>
                </a:lnTo>
                <a:lnTo>
                  <a:pt x="2670048" y="0"/>
                </a:lnTo>
                <a:lnTo>
                  <a:pt x="2706624" y="0"/>
                </a:lnTo>
                <a:lnTo>
                  <a:pt x="2743200" y="0"/>
                </a:lnTo>
                <a:lnTo>
                  <a:pt x="2779776" y="0"/>
                </a:lnTo>
                <a:lnTo>
                  <a:pt x="2816352" y="0"/>
                </a:lnTo>
                <a:lnTo>
                  <a:pt x="2852928" y="0"/>
                </a:lnTo>
                <a:lnTo>
                  <a:pt x="2889504" y="0"/>
                </a:lnTo>
                <a:lnTo>
                  <a:pt x="2926080" y="0"/>
                </a:lnTo>
                <a:lnTo>
                  <a:pt x="2962656" y="0"/>
                </a:lnTo>
                <a:lnTo>
                  <a:pt x="2999232" y="0"/>
                </a:lnTo>
                <a:lnTo>
                  <a:pt x="3035808" y="0"/>
                </a:lnTo>
                <a:lnTo>
                  <a:pt x="3072384" y="0"/>
                </a:lnTo>
                <a:lnTo>
                  <a:pt x="3108960" y="0"/>
                </a:lnTo>
                <a:lnTo>
                  <a:pt x="3145536" y="0"/>
                </a:lnTo>
                <a:lnTo>
                  <a:pt x="3182112" y="0"/>
                </a:lnTo>
                <a:lnTo>
                  <a:pt x="3218688" y="0"/>
                </a:lnTo>
                <a:lnTo>
                  <a:pt x="3255264" y="0"/>
                </a:lnTo>
                <a:lnTo>
                  <a:pt x="3291840" y="0"/>
                </a:lnTo>
                <a:lnTo>
                  <a:pt x="3328416" y="0"/>
                </a:lnTo>
                <a:lnTo>
                  <a:pt x="3364992" y="0"/>
                </a:lnTo>
                <a:lnTo>
                  <a:pt x="3401568" y="0"/>
                </a:lnTo>
                <a:lnTo>
                  <a:pt x="3438144" y="0"/>
                </a:lnTo>
                <a:lnTo>
                  <a:pt x="3474720" y="0"/>
                </a:lnTo>
                <a:lnTo>
                  <a:pt x="3511296" y="0"/>
                </a:lnTo>
                <a:lnTo>
                  <a:pt x="3547872" y="0"/>
                </a:lnTo>
                <a:lnTo>
                  <a:pt x="3584448" y="0"/>
                </a:lnTo>
                <a:lnTo>
                  <a:pt x="3621024" y="0"/>
                </a:lnTo>
                <a:lnTo>
                  <a:pt x="3657600" y="0"/>
                </a:lnTo>
                <a:lnTo>
                  <a:pt x="3694176" y="0"/>
                </a:lnTo>
                <a:lnTo>
                  <a:pt x="3730752" y="0"/>
                </a:lnTo>
                <a:lnTo>
                  <a:pt x="3767328" y="0"/>
                </a:lnTo>
                <a:lnTo>
                  <a:pt x="3803904" y="0"/>
                </a:lnTo>
                <a:lnTo>
                  <a:pt x="3840480" y="50456"/>
                </a:lnTo>
                <a:lnTo>
                  <a:pt x="3877056" y="186356"/>
                </a:lnTo>
                <a:lnTo>
                  <a:pt x="3913632" y="366041"/>
                </a:lnTo>
                <a:lnTo>
                  <a:pt x="3950208" y="534427"/>
                </a:lnTo>
                <a:lnTo>
                  <a:pt x="3986784" y="639895"/>
                </a:lnTo>
                <a:lnTo>
                  <a:pt x="4023360" y="666270"/>
                </a:lnTo>
                <a:lnTo>
                  <a:pt x="4059936" y="684050"/>
                </a:lnTo>
                <a:lnTo>
                  <a:pt x="4096512" y="699008"/>
                </a:lnTo>
                <a:lnTo>
                  <a:pt x="4133088" y="711144"/>
                </a:lnTo>
                <a:lnTo>
                  <a:pt x="4169664" y="720457"/>
                </a:lnTo>
                <a:lnTo>
                  <a:pt x="4206240" y="726948"/>
                </a:lnTo>
                <a:lnTo>
                  <a:pt x="4242816" y="730617"/>
                </a:lnTo>
                <a:lnTo>
                  <a:pt x="4279392" y="731464"/>
                </a:lnTo>
                <a:lnTo>
                  <a:pt x="4315968" y="729488"/>
                </a:lnTo>
                <a:lnTo>
                  <a:pt x="4352544" y="724690"/>
                </a:lnTo>
                <a:lnTo>
                  <a:pt x="4389120" y="717070"/>
                </a:lnTo>
                <a:lnTo>
                  <a:pt x="4425696" y="706628"/>
                </a:lnTo>
                <a:lnTo>
                  <a:pt x="4462272" y="693364"/>
                </a:lnTo>
                <a:lnTo>
                  <a:pt x="4498848" y="677277"/>
                </a:lnTo>
                <a:lnTo>
                  <a:pt x="4535424" y="658368"/>
                </a:lnTo>
                <a:lnTo>
                  <a:pt x="4572000" y="607912"/>
                </a:lnTo>
                <a:lnTo>
                  <a:pt x="4608576" y="472012"/>
                </a:lnTo>
                <a:lnTo>
                  <a:pt x="4645152" y="292327"/>
                </a:lnTo>
                <a:lnTo>
                  <a:pt x="4681728" y="123941"/>
                </a:lnTo>
                <a:lnTo>
                  <a:pt x="4718304" y="18473"/>
                </a:lnTo>
                <a:lnTo>
                  <a:pt x="4754880" y="0"/>
                </a:lnTo>
                <a:lnTo>
                  <a:pt x="4791456" y="0"/>
                </a:lnTo>
                <a:lnTo>
                  <a:pt x="4828032" y="0"/>
                </a:lnTo>
                <a:lnTo>
                  <a:pt x="4864608" y="0"/>
                </a:lnTo>
                <a:lnTo>
                  <a:pt x="4901184" y="0"/>
                </a:lnTo>
                <a:lnTo>
                  <a:pt x="4937760" y="0"/>
                </a:lnTo>
                <a:lnTo>
                  <a:pt x="4974336" y="0"/>
                </a:lnTo>
                <a:lnTo>
                  <a:pt x="5010912" y="0"/>
                </a:lnTo>
                <a:lnTo>
                  <a:pt x="5047488" y="0"/>
                </a:lnTo>
                <a:lnTo>
                  <a:pt x="5084064" y="0"/>
                </a:lnTo>
                <a:lnTo>
                  <a:pt x="5120640" y="0"/>
                </a:lnTo>
                <a:lnTo>
                  <a:pt x="5157216" y="0"/>
                </a:lnTo>
                <a:lnTo>
                  <a:pt x="5193792" y="0"/>
                </a:lnTo>
                <a:lnTo>
                  <a:pt x="5230368" y="0"/>
                </a:lnTo>
                <a:lnTo>
                  <a:pt x="5266944" y="0"/>
                </a:lnTo>
                <a:lnTo>
                  <a:pt x="5303520" y="0"/>
                </a:lnTo>
                <a:lnTo>
                  <a:pt x="5340096" y="0"/>
                </a:lnTo>
                <a:lnTo>
                  <a:pt x="5376672" y="0"/>
                </a:lnTo>
                <a:lnTo>
                  <a:pt x="5413248" y="0"/>
                </a:lnTo>
                <a:lnTo>
                  <a:pt x="5449824" y="0"/>
                </a:lnTo>
                <a:lnTo>
                  <a:pt x="5486400" y="0"/>
                </a:lnTo>
                <a:lnTo>
                  <a:pt x="5522976" y="0"/>
                </a:lnTo>
                <a:lnTo>
                  <a:pt x="5559552" y="0"/>
                </a:lnTo>
                <a:lnTo>
                  <a:pt x="5596128" y="0"/>
                </a:lnTo>
                <a:lnTo>
                  <a:pt x="5632704" y="0"/>
                </a:lnTo>
                <a:lnTo>
                  <a:pt x="5669280" y="0"/>
                </a:lnTo>
                <a:lnTo>
                  <a:pt x="5705856" y="0"/>
                </a:lnTo>
                <a:lnTo>
                  <a:pt x="5742432" y="0"/>
                </a:lnTo>
                <a:lnTo>
                  <a:pt x="5779008" y="0"/>
                </a:lnTo>
                <a:lnTo>
                  <a:pt x="5815584" y="0"/>
                </a:lnTo>
                <a:lnTo>
                  <a:pt x="5852160" y="0"/>
                </a:lnTo>
              </a:path>
            </a:pathLst>
          </a:custGeom>
          <a:solidFill>
            <a:srgbClr val="000000">
              <a:alpha val="0"/>
            </a:srgbClr>
          </a:solidFill>
          <a:ln w="28575">
            <a:solidFill>
              <a:srgbClr val="22D3EE"/>
            </a:solidFill>
            <a:prstDash val="solid"/>
          </a:ln>
        </p:spPr>
      </p:sp>
      <p:sp>
        <p:nvSpPr>
          <p:cNvPr id="12" name="Shape 10"/>
          <p:cNvSpPr/>
          <p:nvPr/>
        </p:nvSpPr>
        <p:spPr>
          <a:xfrm>
            <a:off x="2011680" y="2286000"/>
            <a:ext cx="0" cy="731520"/>
          </a:xfrm>
          <a:prstGeom prst="line">
            <a:avLst/>
          </a:prstGeom>
          <a:noFill/>
          <a:ln w="19050">
            <a:solidFill>
              <a:srgbClr val="F5C26B"/>
            </a:solidFill>
            <a:prstDash val="solid"/>
            <a:headEnd type="triangle"/>
            <a:tailEnd type="triangle"/>
          </a:ln>
        </p:spPr>
      </p:sp>
      <p:sp>
        <p:nvSpPr>
          <p:cNvPr id="13" name="Text 11"/>
          <p:cNvSpPr txBox="1"/>
          <p:nvPr/>
        </p:nvSpPr>
        <p:spPr>
          <a:xfrm>
            <a:off x="1188720" y="2487168"/>
            <a:ext cx="777240" cy="365760"/>
          </a:xfrm>
          <a:prstGeom prst="rect">
            <a:avLst/>
          </a:prstGeom>
          <a:noFill/>
          <a:ln/>
        </p:spPr>
        <p:txBody>
          <a:bodyPr wrap="square" lIns="0" tIns="0" rIns="0" bIns="0" rtlCol="0" anchor="t"/>
          <a:lstStyle/>
          <a:p>
            <a:pPr algn="r" indent="0" marL="0">
              <a:buNone/>
            </a:pPr>
            <a:r>
              <a:rPr lang="en-US" sz="1050" dirty="0">
                <a:solidFill>
                  <a:srgbClr val="F5C26B"/>
                </a:solidFill>
                <a:latin typeface="Calibri" pitchFamily="34" charset="0"/>
                <a:ea typeface="Calibri" pitchFamily="34" charset="-122"/>
                <a:cs typeface="Calibri" pitchFamily="34" charset="-120"/>
              </a:rPr>
              <a:t>Transit</a:t>
            </a:r>
            <a:endParaRPr lang="en-US" sz="1050" dirty="0"/>
          </a:p>
          <a:p>
            <a:pPr algn="r" indent="0" marL="0">
              <a:buNone/>
            </a:pPr>
            <a:r>
              <a:rPr lang="en-US" sz="1050" dirty="0">
                <a:solidFill>
                  <a:srgbClr val="F5C26B"/>
                </a:solidFill>
                <a:latin typeface="Calibri" pitchFamily="34" charset="0"/>
                <a:ea typeface="Calibri" pitchFamily="34" charset="-122"/>
                <a:cs typeface="Calibri" pitchFamily="34" charset="-120"/>
              </a:rPr>
              <a:t>depth</a:t>
            </a:r>
            <a:endParaRPr lang="en-US" sz="1050" dirty="0"/>
          </a:p>
        </p:txBody>
      </p:sp>
      <p:sp>
        <p:nvSpPr>
          <p:cNvPr id="14" name="Shape 12"/>
          <p:cNvSpPr/>
          <p:nvPr/>
        </p:nvSpPr>
        <p:spPr>
          <a:xfrm>
            <a:off x="2212848" y="3291840"/>
            <a:ext cx="932688" cy="0"/>
          </a:xfrm>
          <a:prstGeom prst="line">
            <a:avLst/>
          </a:prstGeom>
          <a:noFill/>
          <a:ln w="19050">
            <a:solidFill>
              <a:srgbClr val="A78BFA"/>
            </a:solidFill>
            <a:prstDash val="solid"/>
            <a:headEnd type="triangle"/>
            <a:tailEnd type="triangle"/>
          </a:ln>
        </p:spPr>
      </p:sp>
      <p:sp>
        <p:nvSpPr>
          <p:cNvPr id="15" name="Text 13"/>
          <p:cNvSpPr txBox="1"/>
          <p:nvPr/>
        </p:nvSpPr>
        <p:spPr>
          <a:xfrm>
            <a:off x="1947672" y="3346704"/>
            <a:ext cx="1463040" cy="228600"/>
          </a:xfrm>
          <a:prstGeom prst="rect">
            <a:avLst/>
          </a:prstGeom>
          <a:noFill/>
          <a:ln/>
        </p:spPr>
        <p:txBody>
          <a:bodyPr wrap="square" lIns="0" tIns="0" rIns="0" bIns="0" rtlCol="0" anchor="t"/>
          <a:lstStyle/>
          <a:p>
            <a:pPr algn="ctr" indent="0" marL="0">
              <a:buNone/>
            </a:pPr>
            <a:r>
              <a:rPr lang="en-US" sz="1050" dirty="0">
                <a:solidFill>
                  <a:srgbClr val="A78BFA"/>
                </a:solidFill>
                <a:latin typeface="Calibri" pitchFamily="34" charset="0"/>
                <a:ea typeface="Calibri" pitchFamily="34" charset="-122"/>
                <a:cs typeface="Calibri" pitchFamily="34" charset="-120"/>
              </a:rPr>
              <a:t>Transit duration</a:t>
            </a:r>
            <a:endParaRPr lang="en-US" sz="1050" dirty="0"/>
          </a:p>
        </p:txBody>
      </p:sp>
      <p:sp>
        <p:nvSpPr>
          <p:cNvPr id="16" name="Shape 14"/>
          <p:cNvSpPr/>
          <p:nvPr/>
        </p:nvSpPr>
        <p:spPr>
          <a:xfrm>
            <a:off x="2679192" y="2121408"/>
            <a:ext cx="2688336" cy="0"/>
          </a:xfrm>
          <a:prstGeom prst="line">
            <a:avLst/>
          </a:prstGeom>
          <a:noFill/>
          <a:ln w="19050">
            <a:solidFill>
              <a:srgbClr val="60A5FA"/>
            </a:solidFill>
            <a:prstDash val="solid"/>
            <a:headEnd type="triangle"/>
            <a:tailEnd type="triangle"/>
          </a:ln>
        </p:spPr>
      </p:sp>
      <p:sp>
        <p:nvSpPr>
          <p:cNvPr id="17" name="Text 15"/>
          <p:cNvSpPr txBox="1"/>
          <p:nvPr/>
        </p:nvSpPr>
        <p:spPr>
          <a:xfrm>
            <a:off x="3291840" y="1828800"/>
            <a:ext cx="1463040" cy="228600"/>
          </a:xfrm>
          <a:prstGeom prst="rect">
            <a:avLst/>
          </a:prstGeom>
          <a:noFill/>
          <a:ln/>
        </p:spPr>
        <p:txBody>
          <a:bodyPr wrap="square" lIns="0" tIns="0" rIns="0" bIns="0" rtlCol="0" anchor="t"/>
          <a:lstStyle/>
          <a:p>
            <a:pPr algn="ctr" indent="0" marL="0">
              <a:buNone/>
            </a:pPr>
            <a:r>
              <a:rPr lang="en-US" sz="1050" dirty="0">
                <a:solidFill>
                  <a:srgbClr val="60A5FA"/>
                </a:solidFill>
                <a:latin typeface="Calibri" pitchFamily="34" charset="0"/>
                <a:ea typeface="Calibri" pitchFamily="34" charset="-122"/>
                <a:cs typeface="Calibri" pitchFamily="34" charset="-120"/>
              </a:rPr>
              <a:t>Orbital period</a:t>
            </a:r>
            <a:endParaRPr lang="en-US" sz="1050" dirty="0"/>
          </a:p>
        </p:txBody>
      </p:sp>
      <p:sp>
        <p:nvSpPr>
          <p:cNvPr id="18" name="Text 16"/>
          <p:cNvSpPr txBox="1"/>
          <p:nvPr/>
        </p:nvSpPr>
        <p:spPr>
          <a:xfrm>
            <a:off x="5897880" y="2880360"/>
            <a:ext cx="1234440" cy="640080"/>
          </a:xfrm>
          <a:prstGeom prst="rect">
            <a:avLst/>
          </a:prstGeom>
          <a:noFill/>
          <a:ln/>
        </p:spPr>
        <p:txBody>
          <a:bodyPr wrap="square" lIns="0" tIns="0" rIns="0" bIns="0" rtlCol="0" anchor="t"/>
          <a:lstStyle/>
          <a:p>
            <a:pPr indent="0" marL="0">
              <a:buNone/>
            </a:pPr>
            <a:r>
              <a:rPr lang="en-US" sz="1000" i="1" dirty="0">
                <a:solidFill>
                  <a:srgbClr val="9FB0C8"/>
                </a:solidFill>
                <a:latin typeface="Calibri" pitchFamily="34" charset="0"/>
                <a:ea typeface="Calibri" pitchFamily="34" charset="-122"/>
                <a:cs typeface="Calibri" pitchFamily="34" charset="-120"/>
              </a:rPr>
              <a:t>Signal-to-noise: how clearly the dip stands out</a:t>
            </a:r>
            <a:endParaRPr lang="en-US" sz="1000" dirty="0"/>
          </a:p>
        </p:txBody>
      </p:sp>
      <p:sp>
        <p:nvSpPr>
          <p:cNvPr id="19" name="Shape 17"/>
          <p:cNvSpPr/>
          <p:nvPr/>
        </p:nvSpPr>
        <p:spPr>
          <a:xfrm>
            <a:off x="1188720" y="3959352"/>
            <a:ext cx="274320" cy="274320"/>
          </a:xfrm>
          <a:prstGeom prst="ellipse">
            <a:avLst/>
          </a:prstGeom>
          <a:solidFill>
            <a:srgbClr val="F5C26B"/>
          </a:solidFill>
          <a:ln w="6350">
            <a:solidFill>
              <a:srgbClr val="F5C26B"/>
            </a:solidFill>
            <a:prstDash val="solid"/>
          </a:ln>
        </p:spPr>
      </p:sp>
      <p:sp>
        <p:nvSpPr>
          <p:cNvPr id="20" name="Shape 18"/>
          <p:cNvSpPr/>
          <p:nvPr/>
        </p:nvSpPr>
        <p:spPr>
          <a:xfrm>
            <a:off x="1307592" y="4050792"/>
            <a:ext cx="109728" cy="109728"/>
          </a:xfrm>
          <a:prstGeom prst="ellipse">
            <a:avLst/>
          </a:prstGeom>
          <a:solidFill>
            <a:srgbClr val="050B1A"/>
          </a:solidFill>
          <a:ln w="3175">
            <a:solidFill>
              <a:srgbClr val="050B1A"/>
            </a:solidFill>
            <a:prstDash val="solid"/>
          </a:ln>
        </p:spPr>
      </p:sp>
      <p:sp>
        <p:nvSpPr>
          <p:cNvPr id="21" name="Text 19"/>
          <p:cNvSpPr txBox="1"/>
          <p:nvPr/>
        </p:nvSpPr>
        <p:spPr>
          <a:xfrm>
            <a:off x="1691640" y="3977640"/>
            <a:ext cx="5394960" cy="256032"/>
          </a:xfrm>
          <a:prstGeom prst="rect">
            <a:avLst/>
          </a:prstGeom>
          <a:noFill/>
          <a:ln/>
        </p:spPr>
        <p:txBody>
          <a:bodyPr wrap="square" lIns="0" tIns="0" rIns="0" bIns="0" rtlCol="0" anchor="ctr"/>
          <a:lstStyle/>
          <a:p>
            <a:pPr indent="0" marL="0">
              <a:buNone/>
            </a:pPr>
            <a:r>
              <a:rPr lang="en-US" sz="1150" dirty="0">
                <a:solidFill>
                  <a:srgbClr val="9FB0C8"/>
                </a:solidFill>
                <a:latin typeface="Calibri" pitchFamily="34" charset="0"/>
                <a:ea typeface="Calibri" pitchFamily="34" charset="-122"/>
                <a:cs typeface="Calibri" pitchFamily="34" charset="-120"/>
              </a:rPr>
              <a:t>A planet crossing in front of its star briefly dims the star’s light</a:t>
            </a:r>
            <a:endParaRPr lang="en-US" sz="1150" dirty="0"/>
          </a:p>
        </p:txBody>
      </p:sp>
      <p:sp>
        <p:nvSpPr>
          <p:cNvPr id="22" name="Shape 20"/>
          <p:cNvSpPr/>
          <p:nvPr/>
        </p:nvSpPr>
        <p:spPr>
          <a:xfrm>
            <a:off x="7498080" y="1371600"/>
            <a:ext cx="2002536" cy="1444752"/>
          </a:xfrm>
          <a:prstGeom prst="roundRect">
            <a:avLst>
              <a:gd name="adj" fmla="val 7595"/>
            </a:avLst>
          </a:prstGeom>
          <a:solidFill>
            <a:srgbClr val="0B1630">
              <a:alpha val="78000"/>
            </a:srgbClr>
          </a:solidFill>
          <a:ln w="9525">
            <a:solidFill>
              <a:srgbClr val="2B4B7E">
                <a:alpha val="65000"/>
              </a:srgbClr>
            </a:solidFill>
            <a:prstDash val="solid"/>
          </a:ln>
        </p:spPr>
      </p:sp>
      <p:sp>
        <p:nvSpPr>
          <p:cNvPr id="23" name="Shape 21"/>
          <p:cNvSpPr/>
          <p:nvPr/>
        </p:nvSpPr>
        <p:spPr>
          <a:xfrm>
            <a:off x="7635240" y="1508760"/>
            <a:ext cx="420624" cy="420624"/>
          </a:xfrm>
          <a:prstGeom prst="ellipse">
            <a:avLst/>
          </a:prstGeom>
          <a:solidFill>
            <a:srgbClr val="F5C26B">
              <a:alpha val="20000"/>
            </a:srgbClr>
          </a:solidFill>
          <a:ln w="12700">
            <a:solidFill>
              <a:srgbClr val="F5C26B">
                <a:alpha val="75000"/>
              </a:srgbClr>
            </a:solidFill>
            <a:prstDash val="solid"/>
          </a:ln>
        </p:spPr>
      </p:sp>
      <p:pic>
        <p:nvPicPr>
          <p:cNvPr id="24" name="Image 0" descr="preencoded.png">    </p:cNvPr>
          <p:cNvPicPr>
            <a:picLocks noChangeAspect="1"/>
          </p:cNvPicPr>
          <p:nvPr/>
        </p:nvPicPr>
        <p:blipFill>
          <a:blip r:embed="rId2"/>
          <a:stretch>
            <a:fillRect/>
          </a:stretch>
        </p:blipFill>
        <p:spPr>
          <a:xfrm>
            <a:off x="7748808" y="1622328"/>
            <a:ext cx="193487" cy="193487"/>
          </a:xfrm>
          <a:prstGeom prst="rect">
            <a:avLst/>
          </a:prstGeom>
        </p:spPr>
      </p:pic>
      <p:sp>
        <p:nvSpPr>
          <p:cNvPr id="25" name="Text 22"/>
          <p:cNvSpPr txBox="1"/>
          <p:nvPr/>
        </p:nvSpPr>
        <p:spPr>
          <a:xfrm>
            <a:off x="7635240" y="1993392"/>
            <a:ext cx="1783080" cy="274320"/>
          </a:xfrm>
          <a:prstGeom prst="rect">
            <a:avLst/>
          </a:prstGeom>
          <a:noFill/>
          <a:ln/>
        </p:spPr>
        <p:txBody>
          <a:bodyPr wrap="square" lIns="0" tIns="0" rIns="0" bIns="0" rtlCol="0" anchor="t"/>
          <a:lstStyle/>
          <a:p>
            <a:pPr indent="0" marL="0">
              <a:buNone/>
            </a:pPr>
            <a:r>
              <a:rPr lang="en-US" sz="1350" b="1" dirty="0">
                <a:solidFill>
                  <a:srgbClr val="F1F5F9"/>
                </a:solidFill>
                <a:latin typeface="Calibri" pitchFamily="34" charset="0"/>
                <a:ea typeface="Calibri" pitchFamily="34" charset="-122"/>
                <a:cs typeface="Calibri" pitchFamily="34" charset="-120"/>
              </a:rPr>
              <a:t>Brightness change</a:t>
            </a:r>
            <a:endParaRPr lang="en-US" sz="1350" dirty="0"/>
          </a:p>
        </p:txBody>
      </p:sp>
      <p:sp>
        <p:nvSpPr>
          <p:cNvPr id="26" name="Text 23"/>
          <p:cNvSpPr txBox="1"/>
          <p:nvPr/>
        </p:nvSpPr>
        <p:spPr>
          <a:xfrm>
            <a:off x="7635240" y="2267712"/>
            <a:ext cx="1783080" cy="5029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Transit depth: how much the star dims</a:t>
            </a:r>
            <a:endParaRPr lang="en-US" sz="1100" dirty="0"/>
          </a:p>
        </p:txBody>
      </p:sp>
      <p:sp>
        <p:nvSpPr>
          <p:cNvPr id="27" name="Shape 24"/>
          <p:cNvSpPr/>
          <p:nvPr/>
        </p:nvSpPr>
        <p:spPr>
          <a:xfrm>
            <a:off x="9637776" y="1371600"/>
            <a:ext cx="2002536" cy="1444752"/>
          </a:xfrm>
          <a:prstGeom prst="roundRect">
            <a:avLst>
              <a:gd name="adj" fmla="val 7595"/>
            </a:avLst>
          </a:prstGeom>
          <a:solidFill>
            <a:srgbClr val="0B1630">
              <a:alpha val="78000"/>
            </a:srgbClr>
          </a:solidFill>
          <a:ln w="9525">
            <a:solidFill>
              <a:srgbClr val="2B4B7E">
                <a:alpha val="65000"/>
              </a:srgbClr>
            </a:solidFill>
            <a:prstDash val="solid"/>
          </a:ln>
        </p:spPr>
      </p:sp>
      <p:sp>
        <p:nvSpPr>
          <p:cNvPr id="28" name="Shape 25"/>
          <p:cNvSpPr/>
          <p:nvPr/>
        </p:nvSpPr>
        <p:spPr>
          <a:xfrm>
            <a:off x="9774936" y="1508760"/>
            <a:ext cx="420624" cy="420624"/>
          </a:xfrm>
          <a:prstGeom prst="ellipse">
            <a:avLst/>
          </a:prstGeom>
          <a:solidFill>
            <a:srgbClr val="A78BFA">
              <a:alpha val="20000"/>
            </a:srgbClr>
          </a:solidFill>
          <a:ln w="12700">
            <a:solidFill>
              <a:srgbClr val="A78BFA">
                <a:alpha val="75000"/>
              </a:srgbClr>
            </a:solidFill>
            <a:prstDash val="solid"/>
          </a:ln>
        </p:spPr>
      </p:sp>
      <p:pic>
        <p:nvPicPr>
          <p:cNvPr id="29" name="Image 1" descr="preencoded.png">    </p:cNvPr>
          <p:cNvPicPr>
            <a:picLocks noChangeAspect="1"/>
          </p:cNvPicPr>
          <p:nvPr/>
        </p:nvPicPr>
        <p:blipFill>
          <a:blip r:embed="rId3"/>
          <a:stretch>
            <a:fillRect/>
          </a:stretch>
        </p:blipFill>
        <p:spPr>
          <a:xfrm>
            <a:off x="9888504" y="1622328"/>
            <a:ext cx="193487" cy="193487"/>
          </a:xfrm>
          <a:prstGeom prst="rect">
            <a:avLst/>
          </a:prstGeom>
        </p:spPr>
      </p:pic>
      <p:sp>
        <p:nvSpPr>
          <p:cNvPr id="30" name="Text 26"/>
          <p:cNvSpPr txBox="1"/>
          <p:nvPr/>
        </p:nvSpPr>
        <p:spPr>
          <a:xfrm>
            <a:off x="9774936" y="1993392"/>
            <a:ext cx="1783080" cy="274320"/>
          </a:xfrm>
          <a:prstGeom prst="rect">
            <a:avLst/>
          </a:prstGeom>
          <a:noFill/>
          <a:ln/>
        </p:spPr>
        <p:txBody>
          <a:bodyPr wrap="square" lIns="0" tIns="0" rIns="0" bIns="0" rtlCol="0" anchor="t"/>
          <a:lstStyle/>
          <a:p>
            <a:pPr indent="0" marL="0">
              <a:buNone/>
            </a:pPr>
            <a:r>
              <a:rPr lang="en-US" sz="1350" b="1" dirty="0">
                <a:solidFill>
                  <a:srgbClr val="F1F5F9"/>
                </a:solidFill>
                <a:latin typeface="Calibri" pitchFamily="34" charset="0"/>
                <a:ea typeface="Calibri" pitchFamily="34" charset="-122"/>
                <a:cs typeface="Calibri" pitchFamily="34" charset="-120"/>
              </a:rPr>
              <a:t>Duration</a:t>
            </a:r>
            <a:endParaRPr lang="en-US" sz="1350" dirty="0"/>
          </a:p>
        </p:txBody>
      </p:sp>
      <p:sp>
        <p:nvSpPr>
          <p:cNvPr id="31" name="Text 27"/>
          <p:cNvSpPr txBox="1"/>
          <p:nvPr/>
        </p:nvSpPr>
        <p:spPr>
          <a:xfrm>
            <a:off x="9774936" y="2267712"/>
            <a:ext cx="1783080" cy="5029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How long the transit lasted</a:t>
            </a:r>
            <a:endParaRPr lang="en-US" sz="1100" dirty="0"/>
          </a:p>
        </p:txBody>
      </p:sp>
      <p:sp>
        <p:nvSpPr>
          <p:cNvPr id="32" name="Shape 28"/>
          <p:cNvSpPr/>
          <p:nvPr/>
        </p:nvSpPr>
        <p:spPr>
          <a:xfrm>
            <a:off x="7498080" y="2898648"/>
            <a:ext cx="2002536" cy="1444752"/>
          </a:xfrm>
          <a:prstGeom prst="roundRect">
            <a:avLst>
              <a:gd name="adj" fmla="val 7595"/>
            </a:avLst>
          </a:prstGeom>
          <a:solidFill>
            <a:srgbClr val="0B1630">
              <a:alpha val="78000"/>
            </a:srgbClr>
          </a:solidFill>
          <a:ln w="9525">
            <a:solidFill>
              <a:srgbClr val="2B4B7E">
                <a:alpha val="65000"/>
              </a:srgbClr>
            </a:solidFill>
            <a:prstDash val="solid"/>
          </a:ln>
        </p:spPr>
      </p:sp>
      <p:sp>
        <p:nvSpPr>
          <p:cNvPr id="33" name="Shape 29"/>
          <p:cNvSpPr/>
          <p:nvPr/>
        </p:nvSpPr>
        <p:spPr>
          <a:xfrm>
            <a:off x="7635240" y="3035808"/>
            <a:ext cx="420624" cy="420624"/>
          </a:xfrm>
          <a:prstGeom prst="ellipse">
            <a:avLst/>
          </a:prstGeom>
          <a:solidFill>
            <a:srgbClr val="60A5FA">
              <a:alpha val="20000"/>
            </a:srgbClr>
          </a:solidFill>
          <a:ln w="12700">
            <a:solidFill>
              <a:srgbClr val="60A5FA">
                <a:alpha val="75000"/>
              </a:srgbClr>
            </a:solidFill>
            <a:prstDash val="solid"/>
          </a:ln>
        </p:spPr>
      </p:sp>
      <p:pic>
        <p:nvPicPr>
          <p:cNvPr id="34" name="Image 2" descr="preencoded.png">    </p:cNvPr>
          <p:cNvPicPr>
            <a:picLocks noChangeAspect="1"/>
          </p:cNvPicPr>
          <p:nvPr/>
        </p:nvPicPr>
        <p:blipFill>
          <a:blip r:embed="rId4"/>
          <a:stretch>
            <a:fillRect/>
          </a:stretch>
        </p:blipFill>
        <p:spPr>
          <a:xfrm>
            <a:off x="7748808" y="3149376"/>
            <a:ext cx="193487" cy="193487"/>
          </a:xfrm>
          <a:prstGeom prst="rect">
            <a:avLst/>
          </a:prstGeom>
        </p:spPr>
      </p:pic>
      <p:sp>
        <p:nvSpPr>
          <p:cNvPr id="35" name="Text 30"/>
          <p:cNvSpPr txBox="1"/>
          <p:nvPr/>
        </p:nvSpPr>
        <p:spPr>
          <a:xfrm>
            <a:off x="7635240" y="3520440"/>
            <a:ext cx="1783080" cy="274320"/>
          </a:xfrm>
          <a:prstGeom prst="rect">
            <a:avLst/>
          </a:prstGeom>
          <a:noFill/>
          <a:ln/>
        </p:spPr>
        <p:txBody>
          <a:bodyPr wrap="square" lIns="0" tIns="0" rIns="0" bIns="0" rtlCol="0" anchor="t"/>
          <a:lstStyle/>
          <a:p>
            <a:pPr indent="0" marL="0">
              <a:buNone/>
            </a:pPr>
            <a:r>
              <a:rPr lang="en-US" sz="1350" b="1" dirty="0">
                <a:solidFill>
                  <a:srgbClr val="F1F5F9"/>
                </a:solidFill>
                <a:latin typeface="Calibri" pitchFamily="34" charset="0"/>
                <a:ea typeface="Calibri" pitchFamily="34" charset="-122"/>
                <a:cs typeface="Calibri" pitchFamily="34" charset="-120"/>
              </a:rPr>
              <a:t>Frequency</a:t>
            </a:r>
            <a:endParaRPr lang="en-US" sz="1350" dirty="0"/>
          </a:p>
        </p:txBody>
      </p:sp>
      <p:sp>
        <p:nvSpPr>
          <p:cNvPr id="36" name="Text 31"/>
          <p:cNvSpPr txBox="1"/>
          <p:nvPr/>
        </p:nvSpPr>
        <p:spPr>
          <a:xfrm>
            <a:off x="7635240" y="3794760"/>
            <a:ext cx="1783080" cy="5029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How often it occurs (orbital period)</a:t>
            </a:r>
            <a:endParaRPr lang="en-US" sz="1100" dirty="0"/>
          </a:p>
        </p:txBody>
      </p:sp>
      <p:sp>
        <p:nvSpPr>
          <p:cNvPr id="37" name="Shape 32"/>
          <p:cNvSpPr/>
          <p:nvPr/>
        </p:nvSpPr>
        <p:spPr>
          <a:xfrm>
            <a:off x="9637776" y="2898648"/>
            <a:ext cx="2002536" cy="1444752"/>
          </a:xfrm>
          <a:prstGeom prst="roundRect">
            <a:avLst>
              <a:gd name="adj" fmla="val 7595"/>
            </a:avLst>
          </a:prstGeom>
          <a:solidFill>
            <a:srgbClr val="0B1630">
              <a:alpha val="78000"/>
            </a:srgbClr>
          </a:solidFill>
          <a:ln w="9525">
            <a:solidFill>
              <a:srgbClr val="2B4B7E">
                <a:alpha val="65000"/>
              </a:srgbClr>
            </a:solidFill>
            <a:prstDash val="solid"/>
          </a:ln>
        </p:spPr>
      </p:sp>
      <p:sp>
        <p:nvSpPr>
          <p:cNvPr id="38" name="Shape 33"/>
          <p:cNvSpPr/>
          <p:nvPr/>
        </p:nvSpPr>
        <p:spPr>
          <a:xfrm>
            <a:off x="9774936" y="3035808"/>
            <a:ext cx="420624" cy="420624"/>
          </a:xfrm>
          <a:prstGeom prst="ellipse">
            <a:avLst/>
          </a:prstGeom>
          <a:solidFill>
            <a:srgbClr val="22D3EE">
              <a:alpha val="20000"/>
            </a:srgbClr>
          </a:solidFill>
          <a:ln w="12700">
            <a:solidFill>
              <a:srgbClr val="22D3EE">
                <a:alpha val="75000"/>
              </a:srgbClr>
            </a:solidFill>
            <a:prstDash val="solid"/>
          </a:ln>
        </p:spPr>
      </p:sp>
      <p:pic>
        <p:nvPicPr>
          <p:cNvPr id="39" name="Image 3" descr="preencoded.png">    </p:cNvPr>
          <p:cNvPicPr>
            <a:picLocks noChangeAspect="1"/>
          </p:cNvPicPr>
          <p:nvPr/>
        </p:nvPicPr>
        <p:blipFill>
          <a:blip r:embed="rId5"/>
          <a:stretch>
            <a:fillRect/>
          </a:stretch>
        </p:blipFill>
        <p:spPr>
          <a:xfrm>
            <a:off x="9888504" y="3149376"/>
            <a:ext cx="193487" cy="193487"/>
          </a:xfrm>
          <a:prstGeom prst="rect">
            <a:avLst/>
          </a:prstGeom>
        </p:spPr>
      </p:pic>
      <p:sp>
        <p:nvSpPr>
          <p:cNvPr id="40" name="Text 34"/>
          <p:cNvSpPr txBox="1"/>
          <p:nvPr/>
        </p:nvSpPr>
        <p:spPr>
          <a:xfrm>
            <a:off x="9774936" y="3520440"/>
            <a:ext cx="1783080" cy="274320"/>
          </a:xfrm>
          <a:prstGeom prst="rect">
            <a:avLst/>
          </a:prstGeom>
          <a:noFill/>
          <a:ln/>
        </p:spPr>
        <p:txBody>
          <a:bodyPr wrap="square" lIns="0" tIns="0" rIns="0" bIns="0" rtlCol="0" anchor="t"/>
          <a:lstStyle/>
          <a:p>
            <a:pPr indent="0" marL="0">
              <a:buNone/>
            </a:pPr>
            <a:r>
              <a:rPr lang="en-US" sz="1350" b="1" dirty="0">
                <a:solidFill>
                  <a:srgbClr val="F1F5F9"/>
                </a:solidFill>
                <a:latin typeface="Calibri" pitchFamily="34" charset="0"/>
                <a:ea typeface="Calibri" pitchFamily="34" charset="-122"/>
                <a:cs typeface="Calibri" pitchFamily="34" charset="-120"/>
              </a:rPr>
              <a:t>Signal strength</a:t>
            </a:r>
            <a:endParaRPr lang="en-US" sz="1350" dirty="0"/>
          </a:p>
        </p:txBody>
      </p:sp>
      <p:sp>
        <p:nvSpPr>
          <p:cNvPr id="41" name="Text 35"/>
          <p:cNvSpPr txBox="1"/>
          <p:nvPr/>
        </p:nvSpPr>
        <p:spPr>
          <a:xfrm>
            <a:off x="9774936" y="3794760"/>
            <a:ext cx="1783080" cy="5029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How strong the detected signal was</a:t>
            </a:r>
            <a:endParaRPr lang="en-US" sz="1100" dirty="0"/>
          </a:p>
        </p:txBody>
      </p:sp>
      <p:sp>
        <p:nvSpPr>
          <p:cNvPr id="42" name="Shape 36"/>
          <p:cNvSpPr/>
          <p:nvPr/>
        </p:nvSpPr>
        <p:spPr>
          <a:xfrm>
            <a:off x="548640" y="4526280"/>
            <a:ext cx="6675120" cy="1783080"/>
          </a:xfrm>
          <a:prstGeom prst="roundRect">
            <a:avLst>
              <a:gd name="adj" fmla="val 6154"/>
            </a:avLst>
          </a:prstGeom>
          <a:solidFill>
            <a:srgbClr val="0B1630">
              <a:alpha val="78000"/>
            </a:srgbClr>
          </a:solidFill>
          <a:ln w="9525">
            <a:solidFill>
              <a:srgbClr val="2B4B7E">
                <a:alpha val="65000"/>
              </a:srgbClr>
            </a:solidFill>
            <a:prstDash val="solid"/>
          </a:ln>
        </p:spPr>
      </p:sp>
      <p:sp>
        <p:nvSpPr>
          <p:cNvPr id="43" name="Text 37"/>
          <p:cNvSpPr txBox="1"/>
          <p:nvPr/>
        </p:nvSpPr>
        <p:spPr>
          <a:xfrm>
            <a:off x="777240" y="4663440"/>
            <a:ext cx="4572000" cy="274320"/>
          </a:xfrm>
          <a:prstGeom prst="rect">
            <a:avLst/>
          </a:prstGeom>
          <a:noFill/>
          <a:ln/>
        </p:spPr>
        <p:txBody>
          <a:bodyPr wrap="square" lIns="0" tIns="0" rIns="0" bIns="0" rtlCol="0" anchor="t"/>
          <a:lstStyle/>
          <a:p>
            <a:pPr indent="0" marL="0">
              <a:buNone/>
            </a:pPr>
            <a:r>
              <a:rPr lang="en-US" sz="1200" b="1" spc="300" kern="0" dirty="0">
                <a:solidFill>
                  <a:srgbClr val="A78BFA"/>
                </a:solidFill>
                <a:latin typeface="Calibri" pitchFamily="34" charset="0"/>
                <a:ea typeface="Calibri" pitchFamily="34" charset="-122"/>
                <a:cs typeface="Calibri" pitchFamily="34" charset="-120"/>
              </a:rPr>
              <a:t>TRANSIT TIMING</a:t>
            </a:r>
            <a:endParaRPr lang="en-US" sz="1200" dirty="0"/>
          </a:p>
        </p:txBody>
      </p:sp>
      <p:sp>
        <p:nvSpPr>
          <p:cNvPr id="44" name="Shape 38"/>
          <p:cNvSpPr/>
          <p:nvPr/>
        </p:nvSpPr>
        <p:spPr>
          <a:xfrm>
            <a:off x="777240" y="4983480"/>
            <a:ext cx="6217920" cy="457200"/>
          </a:xfrm>
          <a:prstGeom prst="roundRect">
            <a:avLst>
              <a:gd name="adj" fmla="val 16000"/>
            </a:avLst>
          </a:prstGeom>
          <a:solidFill>
            <a:srgbClr val="060F24"/>
          </a:solidFill>
          <a:ln w="9525">
            <a:solidFill>
              <a:srgbClr val="1F3A66">
                <a:alpha val="65000"/>
              </a:srgbClr>
            </a:solidFill>
            <a:prstDash val="solid"/>
          </a:ln>
        </p:spPr>
      </p:sp>
      <p:sp>
        <p:nvSpPr>
          <p:cNvPr id="45" name="Text 39"/>
          <p:cNvSpPr txBox="1"/>
          <p:nvPr/>
        </p:nvSpPr>
        <p:spPr>
          <a:xfrm>
            <a:off x="777240" y="4983480"/>
            <a:ext cx="6217920" cy="457200"/>
          </a:xfrm>
          <a:prstGeom prst="rect">
            <a:avLst/>
          </a:prstGeom>
          <a:noFill/>
          <a:ln/>
        </p:spPr>
        <p:txBody>
          <a:bodyPr wrap="square" lIns="0" tIns="0" rIns="0" bIns="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Expected transit  =  reference transit time  +  n × orbital period</a:t>
            </a:r>
            <a:endParaRPr lang="en-US" sz="1600" dirty="0"/>
          </a:p>
        </p:txBody>
      </p:sp>
      <p:sp>
        <p:nvSpPr>
          <p:cNvPr id="46" name="Text 40"/>
          <p:cNvSpPr txBox="1"/>
          <p:nvPr/>
        </p:nvSpPr>
        <p:spPr>
          <a:xfrm>
            <a:off x="777240" y="5559552"/>
            <a:ext cx="6217920" cy="68580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When timing and orbital-period information is available, the system can calculate an expected future transit time. </a:t>
            </a:r>
            <a:pPr indent="0" marL="0">
              <a:buNone/>
            </a:pPr>
            <a:r>
              <a:rPr lang="en-US" sz="1200" b="1" dirty="0">
                <a:solidFill>
                  <a:srgbClr val="F1F5F9"/>
                </a:solidFill>
                <a:latin typeface="Calibri" pitchFamily="34" charset="0"/>
                <a:ea typeface="Calibri" pitchFamily="34" charset="-122"/>
                <a:cs typeface="Calibri" pitchFamily="34" charset="-120"/>
              </a:rPr>
              <a:t>This is a calculation based on available data, not a claim that ML is predicting an entirely new planetary event.</a:t>
            </a:r>
            <a:endParaRPr lang="en-US" sz="1200" dirty="0"/>
          </a:p>
        </p:txBody>
      </p:sp>
      <p:sp>
        <p:nvSpPr>
          <p:cNvPr id="47" name="Shape 41"/>
          <p:cNvSpPr/>
          <p:nvPr/>
        </p:nvSpPr>
        <p:spPr>
          <a:xfrm>
            <a:off x="7498080" y="4526280"/>
            <a:ext cx="4142232" cy="1783080"/>
          </a:xfrm>
          <a:prstGeom prst="roundRect">
            <a:avLst>
              <a:gd name="adj" fmla="val 6154"/>
            </a:avLst>
          </a:prstGeom>
          <a:solidFill>
            <a:srgbClr val="0B1630">
              <a:alpha val="78000"/>
            </a:srgbClr>
          </a:solidFill>
          <a:ln w="9525">
            <a:solidFill>
              <a:srgbClr val="2B4B7E">
                <a:alpha val="65000"/>
              </a:srgbClr>
            </a:solidFill>
            <a:prstDash val="solid"/>
          </a:ln>
        </p:spPr>
      </p:sp>
      <p:sp>
        <p:nvSpPr>
          <p:cNvPr id="48" name="Text 42"/>
          <p:cNvSpPr txBox="1"/>
          <p:nvPr/>
        </p:nvSpPr>
        <p:spPr>
          <a:xfrm>
            <a:off x="7726680" y="4663440"/>
            <a:ext cx="4572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VISUALIZATION CONCEPTS</a:t>
            </a:r>
            <a:endParaRPr lang="en-US" sz="1200" dirty="0"/>
          </a:p>
        </p:txBody>
      </p:sp>
      <p:sp>
        <p:nvSpPr>
          <p:cNvPr id="49" name="Shape 43"/>
          <p:cNvSpPr/>
          <p:nvPr/>
        </p:nvSpPr>
        <p:spPr>
          <a:xfrm>
            <a:off x="7726680" y="5029200"/>
            <a:ext cx="1783080" cy="338328"/>
          </a:xfrm>
          <a:prstGeom prst="roundRect">
            <a:avLst>
              <a:gd name="adj" fmla="val 50000"/>
            </a:avLst>
          </a:prstGeom>
          <a:solidFill>
            <a:srgbClr val="22D3EE">
              <a:alpha val="18000"/>
            </a:srgbClr>
          </a:solidFill>
          <a:ln w="9525">
            <a:solidFill>
              <a:srgbClr val="22D3EE">
                <a:alpha val="70000"/>
              </a:srgbClr>
            </a:solidFill>
            <a:prstDash val="solid"/>
          </a:ln>
        </p:spPr>
      </p:sp>
      <p:sp>
        <p:nvSpPr>
          <p:cNvPr id="50" name="Text 44"/>
          <p:cNvSpPr txBox="1"/>
          <p:nvPr/>
        </p:nvSpPr>
        <p:spPr>
          <a:xfrm>
            <a:off x="7726680" y="5029200"/>
            <a:ext cx="1783080" cy="338328"/>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Transit light curve</a:t>
            </a:r>
            <a:endParaRPr lang="en-US" sz="1100" dirty="0"/>
          </a:p>
        </p:txBody>
      </p:sp>
      <p:sp>
        <p:nvSpPr>
          <p:cNvPr id="51" name="Shape 45"/>
          <p:cNvSpPr/>
          <p:nvPr/>
        </p:nvSpPr>
        <p:spPr>
          <a:xfrm>
            <a:off x="9601200" y="5029200"/>
            <a:ext cx="1783080" cy="338328"/>
          </a:xfrm>
          <a:prstGeom prst="roundRect">
            <a:avLst>
              <a:gd name="adj" fmla="val 50000"/>
            </a:avLst>
          </a:prstGeom>
          <a:solidFill>
            <a:srgbClr val="22D3EE">
              <a:alpha val="18000"/>
            </a:srgbClr>
          </a:solidFill>
          <a:ln w="9525">
            <a:solidFill>
              <a:srgbClr val="22D3EE">
                <a:alpha val="70000"/>
              </a:srgbClr>
            </a:solidFill>
            <a:prstDash val="solid"/>
          </a:ln>
        </p:spPr>
      </p:sp>
      <p:sp>
        <p:nvSpPr>
          <p:cNvPr id="52" name="Text 46"/>
          <p:cNvSpPr txBox="1"/>
          <p:nvPr/>
        </p:nvSpPr>
        <p:spPr>
          <a:xfrm>
            <a:off x="9601200" y="5029200"/>
            <a:ext cx="1783080" cy="338328"/>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Distribution plot</a:t>
            </a:r>
            <a:endParaRPr lang="en-US" sz="1100" dirty="0"/>
          </a:p>
        </p:txBody>
      </p:sp>
      <p:sp>
        <p:nvSpPr>
          <p:cNvPr id="53" name="Shape 47"/>
          <p:cNvSpPr/>
          <p:nvPr/>
        </p:nvSpPr>
        <p:spPr>
          <a:xfrm>
            <a:off x="7726680" y="5431536"/>
            <a:ext cx="1783080" cy="338328"/>
          </a:xfrm>
          <a:prstGeom prst="roundRect">
            <a:avLst>
              <a:gd name="adj" fmla="val 50000"/>
            </a:avLst>
          </a:prstGeom>
          <a:solidFill>
            <a:srgbClr val="60A5FA">
              <a:alpha val="18000"/>
            </a:srgbClr>
          </a:solidFill>
          <a:ln w="9525">
            <a:solidFill>
              <a:srgbClr val="60A5FA">
                <a:alpha val="70000"/>
              </a:srgbClr>
            </a:solidFill>
            <a:prstDash val="solid"/>
          </a:ln>
        </p:spPr>
      </p:sp>
      <p:sp>
        <p:nvSpPr>
          <p:cNvPr id="54" name="Text 48"/>
          <p:cNvSpPr txBox="1"/>
          <p:nvPr/>
        </p:nvSpPr>
        <p:spPr>
          <a:xfrm>
            <a:off x="7726680" y="5431536"/>
            <a:ext cx="1783080" cy="338328"/>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Correlation view</a:t>
            </a:r>
            <a:endParaRPr lang="en-US" sz="1100" dirty="0"/>
          </a:p>
        </p:txBody>
      </p:sp>
      <p:sp>
        <p:nvSpPr>
          <p:cNvPr id="55" name="Shape 49"/>
          <p:cNvSpPr/>
          <p:nvPr/>
        </p:nvSpPr>
        <p:spPr>
          <a:xfrm>
            <a:off x="9601200" y="5431536"/>
            <a:ext cx="1783080" cy="338328"/>
          </a:xfrm>
          <a:prstGeom prst="roundRect">
            <a:avLst>
              <a:gd name="adj" fmla="val 50000"/>
            </a:avLst>
          </a:prstGeom>
          <a:solidFill>
            <a:srgbClr val="60A5FA">
              <a:alpha val="18000"/>
            </a:srgbClr>
          </a:solidFill>
          <a:ln w="9525">
            <a:solidFill>
              <a:srgbClr val="60A5FA">
                <a:alpha val="70000"/>
              </a:srgbClr>
            </a:solidFill>
            <a:prstDash val="solid"/>
          </a:ln>
        </p:spPr>
      </p:sp>
      <p:sp>
        <p:nvSpPr>
          <p:cNvPr id="56" name="Text 50"/>
          <p:cNvSpPr txBox="1"/>
          <p:nvPr/>
        </p:nvSpPr>
        <p:spPr>
          <a:xfrm>
            <a:off x="9601200" y="5431536"/>
            <a:ext cx="1783080" cy="338328"/>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Feature importance</a:t>
            </a:r>
            <a:endParaRPr lang="en-US" sz="1100" dirty="0"/>
          </a:p>
        </p:txBody>
      </p:sp>
      <p:sp>
        <p:nvSpPr>
          <p:cNvPr id="57" name="Shape 51"/>
          <p:cNvSpPr/>
          <p:nvPr/>
        </p:nvSpPr>
        <p:spPr>
          <a:xfrm>
            <a:off x="7726680" y="5833872"/>
            <a:ext cx="1783080" cy="338328"/>
          </a:xfrm>
          <a:prstGeom prst="roundRect">
            <a:avLst>
              <a:gd name="adj" fmla="val 50000"/>
            </a:avLst>
          </a:prstGeom>
          <a:solidFill>
            <a:srgbClr val="A78BFA">
              <a:alpha val="18000"/>
            </a:srgbClr>
          </a:solidFill>
          <a:ln w="9525">
            <a:solidFill>
              <a:srgbClr val="A78BFA">
                <a:alpha val="70000"/>
              </a:srgbClr>
            </a:solidFill>
            <a:prstDash val="solid"/>
          </a:ln>
        </p:spPr>
      </p:sp>
      <p:sp>
        <p:nvSpPr>
          <p:cNvPr id="58" name="Text 52"/>
          <p:cNvSpPr txBox="1"/>
          <p:nvPr/>
        </p:nvSpPr>
        <p:spPr>
          <a:xfrm>
            <a:off x="7726680" y="5833872"/>
            <a:ext cx="1783080" cy="338328"/>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Model comparison</a:t>
            </a:r>
            <a:endParaRPr lang="en-US" sz="1100" dirty="0"/>
          </a:p>
        </p:txBody>
      </p:sp>
      <p:sp>
        <p:nvSpPr>
          <p:cNvPr id="59" name="Shape 53"/>
          <p:cNvSpPr/>
          <p:nvPr/>
        </p:nvSpPr>
        <p:spPr>
          <a:xfrm>
            <a:off x="9601200" y="5833872"/>
            <a:ext cx="1783080" cy="338328"/>
          </a:xfrm>
          <a:prstGeom prst="roundRect">
            <a:avLst>
              <a:gd name="adj" fmla="val 50000"/>
            </a:avLst>
          </a:prstGeom>
          <a:solidFill>
            <a:srgbClr val="A78BFA">
              <a:alpha val="18000"/>
            </a:srgbClr>
          </a:solidFill>
          <a:ln w="9525">
            <a:solidFill>
              <a:srgbClr val="A78BFA">
                <a:alpha val="70000"/>
              </a:srgbClr>
            </a:solidFill>
            <a:prstDash val="solid"/>
          </a:ln>
        </p:spPr>
      </p:sp>
      <p:sp>
        <p:nvSpPr>
          <p:cNvPr id="60" name="Text 54"/>
          <p:cNvSpPr txBox="1"/>
          <p:nvPr/>
        </p:nvSpPr>
        <p:spPr>
          <a:xfrm>
            <a:off x="9601200" y="5833872"/>
            <a:ext cx="1783080" cy="338328"/>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Screening results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9184"/>
            <a:ext cx="7315200" cy="228600"/>
          </a:xfrm>
          <a:prstGeom prst="rect">
            <a:avLst/>
          </a:prstGeom>
          <a:noFill/>
          <a:ln/>
        </p:spPr>
        <p:txBody>
          <a:bodyPr wrap="square" lIns="0" tIns="0" rIns="0" bIns="0" rtlCol="0" anchor="t"/>
          <a:lstStyle/>
          <a:p>
            <a:pPr indent="0" marL="0">
              <a:buNone/>
            </a:pPr>
            <a:r>
              <a:rPr lang="en-US" sz="1100" b="1" spc="400" kern="0" dirty="0">
                <a:solidFill>
                  <a:srgbClr val="22D3EE"/>
                </a:solidFill>
                <a:latin typeface="Calibri" pitchFamily="34" charset="0"/>
                <a:ea typeface="Calibri" pitchFamily="34" charset="-122"/>
                <a:cs typeface="Calibri" pitchFamily="34" charset="-120"/>
              </a:rPr>
              <a:t>06  |  IMPACT</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600" b="1" dirty="0">
                <a:solidFill>
                  <a:srgbClr val="F1F5F9"/>
                </a:solidFill>
                <a:latin typeface="Calibri" pitchFamily="34" charset="0"/>
                <a:ea typeface="Calibri" pitchFamily="34" charset="-122"/>
                <a:cs typeface="Calibri" pitchFamily="34" charset="-120"/>
              </a:rPr>
              <a:t>From Raw Data to Understandable Insights</a:t>
            </a:r>
            <a:endParaRPr lang="en-US" sz="3600" dirty="0"/>
          </a:p>
        </p:txBody>
      </p:sp>
      <p:sp>
        <p:nvSpPr>
          <p:cNvPr id="4" name="Shape 2"/>
          <p:cNvSpPr/>
          <p:nvPr/>
        </p:nvSpPr>
        <p:spPr>
          <a:xfrm>
            <a:off x="548640" y="1371600"/>
            <a:ext cx="3931920" cy="1691640"/>
          </a:xfrm>
          <a:prstGeom prst="roundRect">
            <a:avLst>
              <a:gd name="adj" fmla="val 6486"/>
            </a:avLst>
          </a:prstGeom>
          <a:solidFill>
            <a:srgbClr val="060F24">
              <a:alpha val="95000"/>
            </a:srgbClr>
          </a:solidFill>
          <a:ln w="9525">
            <a:solidFill>
              <a:srgbClr val="2B4B7E">
                <a:alpha val="65000"/>
              </a:srgbClr>
            </a:solidFill>
            <a:prstDash val="solid"/>
          </a:ln>
        </p:spPr>
      </p:sp>
      <p:sp>
        <p:nvSpPr>
          <p:cNvPr id="5" name="Text 3"/>
          <p:cNvSpPr txBox="1"/>
          <p:nvPr/>
        </p:nvSpPr>
        <p:spPr>
          <a:xfrm>
            <a:off x="777240" y="1508760"/>
            <a:ext cx="4572000" cy="274320"/>
          </a:xfrm>
          <a:prstGeom prst="rect">
            <a:avLst/>
          </a:prstGeom>
          <a:noFill/>
          <a:ln/>
        </p:spPr>
        <p:txBody>
          <a:bodyPr wrap="square" lIns="0" tIns="0" rIns="0" bIns="0" rtlCol="0" anchor="t"/>
          <a:lstStyle/>
          <a:p>
            <a:pPr indent="0" marL="0">
              <a:buNone/>
            </a:pPr>
            <a:r>
              <a:rPr lang="en-US" sz="1200" b="1" spc="300" kern="0" dirty="0">
                <a:solidFill>
                  <a:srgbClr val="9FB0C8"/>
                </a:solidFill>
                <a:latin typeface="Calibri" pitchFamily="34" charset="0"/>
                <a:ea typeface="Calibri" pitchFamily="34" charset="-122"/>
                <a:cs typeface="Calibri" pitchFamily="34" charset="-120"/>
              </a:rPr>
              <a:t>BEFORE  ·  RAW VALUES</a:t>
            </a:r>
            <a:endParaRPr lang="en-US" sz="1200" dirty="0"/>
          </a:p>
        </p:txBody>
      </p:sp>
      <p:sp>
        <p:nvSpPr>
          <p:cNvPr id="6" name="Text 4"/>
          <p:cNvSpPr txBox="1"/>
          <p:nvPr/>
        </p:nvSpPr>
        <p:spPr>
          <a:xfrm>
            <a:off x="777240" y="1874520"/>
            <a:ext cx="3566160" cy="1097280"/>
          </a:xfrm>
          <a:prstGeom prst="rect">
            <a:avLst/>
          </a:prstGeom>
          <a:noFill/>
          <a:ln/>
        </p:spPr>
        <p:txBody>
          <a:bodyPr wrap="square" lIns="0" tIns="0" rIns="0" bIns="0" rtlCol="0" anchor="t"/>
          <a:lstStyle/>
          <a:p>
            <a:pPr indent="0" marL="0">
              <a:spcAft>
                <a:spcPts val="500"/>
              </a:spcAft>
              <a:buNone/>
            </a:pPr>
            <a:r>
              <a:rPr lang="en-US" sz="1700" dirty="0">
                <a:solidFill>
                  <a:srgbClr val="22D3EE"/>
                </a:solidFill>
                <a:latin typeface="Courier New" pitchFamily="34" charset="0"/>
                <a:ea typeface="Courier New" pitchFamily="34" charset="-122"/>
                <a:cs typeface="Courier New" pitchFamily="34" charset="-120"/>
              </a:rPr>
              <a:t>koi_prad = 1.2</a:t>
            </a:r>
            <a:endParaRPr lang="en-US" sz="1700" dirty="0"/>
          </a:p>
          <a:p>
            <a:pPr indent="0" marL="0">
              <a:spcAft>
                <a:spcPts val="500"/>
              </a:spcAft>
              <a:buNone/>
            </a:pPr>
            <a:r>
              <a:rPr lang="en-US" sz="1700" dirty="0">
                <a:solidFill>
                  <a:srgbClr val="22D3EE"/>
                </a:solidFill>
                <a:latin typeface="Courier New" pitchFamily="34" charset="0"/>
                <a:ea typeface="Courier New" pitchFamily="34" charset="-122"/>
                <a:cs typeface="Courier New" pitchFamily="34" charset="-120"/>
              </a:rPr>
              <a:t>koi_period = 25.4</a:t>
            </a:r>
            <a:endParaRPr lang="en-US" sz="1700" dirty="0"/>
          </a:p>
          <a:p>
            <a:pPr indent="0" marL="0">
              <a:spcAft>
                <a:spcPts val="500"/>
              </a:spcAft>
              <a:buNone/>
            </a:pPr>
            <a:r>
              <a:rPr lang="en-US" sz="1700" dirty="0">
                <a:solidFill>
                  <a:srgbClr val="22D3EE"/>
                </a:solidFill>
                <a:latin typeface="Courier New" pitchFamily="34" charset="0"/>
                <a:ea typeface="Courier New" pitchFamily="34" charset="-122"/>
                <a:cs typeface="Courier New" pitchFamily="34" charset="-120"/>
              </a:rPr>
              <a:t>koi_teq = 280</a:t>
            </a:r>
            <a:endParaRPr lang="en-US" sz="1700" dirty="0"/>
          </a:p>
        </p:txBody>
      </p:sp>
      <p:sp>
        <p:nvSpPr>
          <p:cNvPr id="7" name="Shape 5"/>
          <p:cNvSpPr/>
          <p:nvPr/>
        </p:nvSpPr>
        <p:spPr>
          <a:xfrm>
            <a:off x="4617720" y="1965960"/>
            <a:ext cx="548640" cy="457200"/>
          </a:xfrm>
          <a:prstGeom prst="rightArrow">
            <a:avLst/>
          </a:prstGeom>
          <a:solidFill>
            <a:srgbClr val="22D3EE">
              <a:alpha val="85000"/>
            </a:srgbClr>
          </a:solidFill>
          <a:ln w="6350">
            <a:solidFill>
              <a:srgbClr val="22D3EE"/>
            </a:solidFill>
            <a:prstDash val="solid"/>
          </a:ln>
        </p:spPr>
      </p:sp>
      <p:sp>
        <p:nvSpPr>
          <p:cNvPr id="8" name="Shape 6"/>
          <p:cNvSpPr/>
          <p:nvPr/>
        </p:nvSpPr>
        <p:spPr>
          <a:xfrm>
            <a:off x="5303520" y="1371600"/>
            <a:ext cx="6336792" cy="1691640"/>
          </a:xfrm>
          <a:prstGeom prst="roundRect">
            <a:avLst>
              <a:gd name="adj" fmla="val 6486"/>
            </a:avLst>
          </a:prstGeom>
          <a:solidFill>
            <a:srgbClr val="0B1630">
              <a:alpha val="78000"/>
            </a:srgbClr>
          </a:solidFill>
          <a:ln w="9525">
            <a:solidFill>
              <a:srgbClr val="22D3EE">
                <a:alpha val="70000"/>
              </a:srgbClr>
            </a:solidFill>
            <a:prstDash val="solid"/>
          </a:ln>
        </p:spPr>
      </p:sp>
      <p:sp>
        <p:nvSpPr>
          <p:cNvPr id="9" name="Shape 7"/>
          <p:cNvSpPr/>
          <p:nvPr/>
        </p:nvSpPr>
        <p:spPr>
          <a:xfrm>
            <a:off x="5486400" y="1508760"/>
            <a:ext cx="384048" cy="384048"/>
          </a:xfrm>
          <a:prstGeom prst="ellipse">
            <a:avLst/>
          </a:prstGeom>
          <a:solidFill>
            <a:srgbClr val="22D3EE">
              <a:alpha val="20000"/>
            </a:srgbClr>
          </a:solidFill>
          <a:ln w="12700">
            <a:solidFill>
              <a:srgbClr val="22D3EE">
                <a:alpha val="75000"/>
              </a:srgbClr>
            </a:solidFill>
            <a:prstDash val="solid"/>
          </a:ln>
        </p:spPr>
      </p:sp>
      <p:pic>
        <p:nvPicPr>
          <p:cNvPr id="10" name="Image 0" descr="preencoded.png">    </p:cNvPr>
          <p:cNvPicPr>
            <a:picLocks noChangeAspect="1"/>
          </p:cNvPicPr>
          <p:nvPr/>
        </p:nvPicPr>
        <p:blipFill>
          <a:blip r:embed="rId2"/>
          <a:stretch>
            <a:fillRect/>
          </a:stretch>
        </p:blipFill>
        <p:spPr>
          <a:xfrm>
            <a:off x="5590093" y="1612453"/>
            <a:ext cx="176662" cy="176662"/>
          </a:xfrm>
          <a:prstGeom prst="rect">
            <a:avLst/>
          </a:prstGeom>
        </p:spPr>
      </p:pic>
      <p:sp>
        <p:nvSpPr>
          <p:cNvPr id="11" name="Text 8"/>
          <p:cNvSpPr txBox="1"/>
          <p:nvPr/>
        </p:nvSpPr>
        <p:spPr>
          <a:xfrm>
            <a:off x="5989320" y="1581912"/>
            <a:ext cx="4572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AFTER  ·  HUMAN-READABLE</a:t>
            </a:r>
            <a:endParaRPr lang="en-US" sz="1200" dirty="0"/>
          </a:p>
        </p:txBody>
      </p:sp>
      <p:sp>
        <p:nvSpPr>
          <p:cNvPr id="12" name="Text 9"/>
          <p:cNvSpPr txBox="1"/>
          <p:nvPr/>
        </p:nvSpPr>
        <p:spPr>
          <a:xfrm>
            <a:off x="5486400" y="2029968"/>
            <a:ext cx="5943600" cy="960120"/>
          </a:xfrm>
          <a:prstGeom prst="rect">
            <a:avLst/>
          </a:prstGeom>
          <a:noFill/>
          <a:ln/>
        </p:spPr>
        <p:txBody>
          <a:bodyPr wrap="square" lIns="0" tIns="0" rIns="0" bIns="0" rtlCol="0" anchor="t"/>
          <a:lstStyle/>
          <a:p>
            <a:pPr indent="0" marL="0">
              <a:buNone/>
            </a:pPr>
            <a:r>
              <a:rPr lang="en-US" sz="1450" i="1" dirty="0">
                <a:solidFill>
                  <a:srgbClr val="F1F5F9"/>
                </a:solidFill>
                <a:latin typeface="Calibri" pitchFamily="34" charset="0"/>
                <a:ea typeface="Calibri" pitchFamily="34" charset="-122"/>
                <a:cs typeface="Calibri" pitchFamily="34" charset="-120"/>
              </a:rPr>
              <a:t>“This candidate has a radius of approximately 1.2 Earth radii and completes an orbit around its host star approximately every 25.4 days. Its estimated equilibrium temperature is around 280 K.”</a:t>
            </a:r>
            <a:endParaRPr lang="en-US" sz="1450" dirty="0"/>
          </a:p>
        </p:txBody>
      </p:sp>
      <p:sp>
        <p:nvSpPr>
          <p:cNvPr id="13" name="Shape 10"/>
          <p:cNvSpPr/>
          <p:nvPr/>
        </p:nvSpPr>
        <p:spPr>
          <a:xfrm>
            <a:off x="548640" y="3291840"/>
            <a:ext cx="5408676" cy="1783080"/>
          </a:xfrm>
          <a:prstGeom prst="roundRect">
            <a:avLst>
              <a:gd name="adj" fmla="val 6154"/>
            </a:avLst>
          </a:prstGeom>
          <a:solidFill>
            <a:srgbClr val="0B1630">
              <a:alpha val="78000"/>
            </a:srgbClr>
          </a:solidFill>
          <a:ln w="9525">
            <a:solidFill>
              <a:srgbClr val="2B4B7E">
                <a:alpha val="65000"/>
              </a:srgbClr>
            </a:solidFill>
            <a:prstDash val="solid"/>
          </a:ln>
        </p:spPr>
      </p:sp>
      <p:sp>
        <p:nvSpPr>
          <p:cNvPr id="14" name="Shape 11"/>
          <p:cNvSpPr/>
          <p:nvPr/>
        </p:nvSpPr>
        <p:spPr>
          <a:xfrm>
            <a:off x="777240" y="3429000"/>
            <a:ext cx="457200" cy="457200"/>
          </a:xfrm>
          <a:prstGeom prst="ellipse">
            <a:avLst/>
          </a:prstGeom>
          <a:solidFill>
            <a:srgbClr val="22D3EE">
              <a:alpha val="20000"/>
            </a:srgbClr>
          </a:solidFill>
          <a:ln w="12700">
            <a:solidFill>
              <a:srgbClr val="22D3EE">
                <a:alpha val="75000"/>
              </a:srgbClr>
            </a:solidFill>
            <a:prstDash val="solid"/>
          </a:ln>
        </p:spPr>
      </p:sp>
      <p:pic>
        <p:nvPicPr>
          <p:cNvPr id="15" name="Image 1" descr="preencoded.png">    </p:cNvPr>
          <p:cNvPicPr>
            <a:picLocks noChangeAspect="1"/>
          </p:cNvPicPr>
          <p:nvPr/>
        </p:nvPicPr>
        <p:blipFill>
          <a:blip r:embed="rId3"/>
          <a:stretch>
            <a:fillRect/>
          </a:stretch>
        </p:blipFill>
        <p:spPr>
          <a:xfrm>
            <a:off x="900684" y="3552444"/>
            <a:ext cx="210312" cy="210312"/>
          </a:xfrm>
          <a:prstGeom prst="rect">
            <a:avLst/>
          </a:prstGeom>
        </p:spPr>
      </p:pic>
      <p:sp>
        <p:nvSpPr>
          <p:cNvPr id="16" name="Text 12"/>
          <p:cNvSpPr txBox="1"/>
          <p:nvPr/>
        </p:nvSpPr>
        <p:spPr>
          <a:xfrm>
            <a:off x="1371600" y="3429000"/>
            <a:ext cx="4480560" cy="4572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Astronomers &amp; Exoplanet Researchers</a:t>
            </a:r>
            <a:endParaRPr lang="en-US" sz="1600" dirty="0"/>
          </a:p>
        </p:txBody>
      </p:sp>
      <p:sp>
        <p:nvSpPr>
          <p:cNvPr id="17" name="Shape 13"/>
          <p:cNvSpPr/>
          <p:nvPr/>
        </p:nvSpPr>
        <p:spPr>
          <a:xfrm>
            <a:off x="777240" y="4069080"/>
            <a:ext cx="868680"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18" name="Text 14"/>
          <p:cNvSpPr txBox="1"/>
          <p:nvPr/>
        </p:nvSpPr>
        <p:spPr>
          <a:xfrm>
            <a:off x="777240" y="4069080"/>
            <a:ext cx="868680"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Search</a:t>
            </a:r>
            <a:endParaRPr lang="en-US" sz="1100" dirty="0"/>
          </a:p>
        </p:txBody>
      </p:sp>
      <p:sp>
        <p:nvSpPr>
          <p:cNvPr id="19" name="Shape 15"/>
          <p:cNvSpPr/>
          <p:nvPr/>
        </p:nvSpPr>
        <p:spPr>
          <a:xfrm>
            <a:off x="1664208" y="4242816"/>
            <a:ext cx="82296" cy="0"/>
          </a:xfrm>
          <a:prstGeom prst="line">
            <a:avLst/>
          </a:prstGeom>
          <a:noFill/>
          <a:ln w="15875">
            <a:solidFill>
              <a:srgbClr val="22D3EE"/>
            </a:solidFill>
            <a:prstDash val="solid"/>
            <a:tailEnd type="triangle"/>
          </a:ln>
        </p:spPr>
      </p:sp>
      <p:sp>
        <p:nvSpPr>
          <p:cNvPr id="20" name="Shape 16"/>
          <p:cNvSpPr/>
          <p:nvPr/>
        </p:nvSpPr>
        <p:spPr>
          <a:xfrm>
            <a:off x="1764792" y="4069080"/>
            <a:ext cx="868680"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21" name="Text 17"/>
          <p:cNvSpPr txBox="1"/>
          <p:nvPr/>
        </p:nvSpPr>
        <p:spPr>
          <a:xfrm>
            <a:off x="1764792" y="4069080"/>
            <a:ext cx="868680"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Analyze</a:t>
            </a:r>
            <a:endParaRPr lang="en-US" sz="1100" dirty="0"/>
          </a:p>
        </p:txBody>
      </p:sp>
      <p:sp>
        <p:nvSpPr>
          <p:cNvPr id="22" name="Shape 18"/>
          <p:cNvSpPr/>
          <p:nvPr/>
        </p:nvSpPr>
        <p:spPr>
          <a:xfrm>
            <a:off x="2651760" y="4242816"/>
            <a:ext cx="82296" cy="0"/>
          </a:xfrm>
          <a:prstGeom prst="line">
            <a:avLst/>
          </a:prstGeom>
          <a:noFill/>
          <a:ln w="15875">
            <a:solidFill>
              <a:srgbClr val="22D3EE"/>
            </a:solidFill>
            <a:prstDash val="solid"/>
            <a:tailEnd type="triangle"/>
          </a:ln>
        </p:spPr>
      </p:sp>
      <p:sp>
        <p:nvSpPr>
          <p:cNvPr id="23" name="Shape 19"/>
          <p:cNvSpPr/>
          <p:nvPr/>
        </p:nvSpPr>
        <p:spPr>
          <a:xfrm>
            <a:off x="2752344" y="4069080"/>
            <a:ext cx="868680"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24" name="Text 20"/>
          <p:cNvSpPr txBox="1"/>
          <p:nvPr/>
        </p:nvSpPr>
        <p:spPr>
          <a:xfrm>
            <a:off x="2752344" y="4069080"/>
            <a:ext cx="868680"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Understand</a:t>
            </a:r>
            <a:endParaRPr lang="en-US" sz="1100" dirty="0"/>
          </a:p>
        </p:txBody>
      </p:sp>
      <p:sp>
        <p:nvSpPr>
          <p:cNvPr id="25" name="Shape 21"/>
          <p:cNvSpPr/>
          <p:nvPr/>
        </p:nvSpPr>
        <p:spPr>
          <a:xfrm>
            <a:off x="3639312" y="4242816"/>
            <a:ext cx="82296" cy="0"/>
          </a:xfrm>
          <a:prstGeom prst="line">
            <a:avLst/>
          </a:prstGeom>
          <a:noFill/>
          <a:ln w="15875">
            <a:solidFill>
              <a:srgbClr val="22D3EE"/>
            </a:solidFill>
            <a:prstDash val="solid"/>
            <a:tailEnd type="triangle"/>
          </a:ln>
        </p:spPr>
      </p:sp>
      <p:sp>
        <p:nvSpPr>
          <p:cNvPr id="26" name="Shape 22"/>
          <p:cNvSpPr/>
          <p:nvPr/>
        </p:nvSpPr>
        <p:spPr>
          <a:xfrm>
            <a:off x="3739896" y="4069080"/>
            <a:ext cx="868680"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27" name="Text 23"/>
          <p:cNvSpPr txBox="1"/>
          <p:nvPr/>
        </p:nvSpPr>
        <p:spPr>
          <a:xfrm>
            <a:off x="3739896" y="4069080"/>
            <a:ext cx="868680"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Classify</a:t>
            </a:r>
            <a:endParaRPr lang="en-US" sz="1100" dirty="0"/>
          </a:p>
        </p:txBody>
      </p:sp>
      <p:sp>
        <p:nvSpPr>
          <p:cNvPr id="28" name="Shape 24"/>
          <p:cNvSpPr/>
          <p:nvPr/>
        </p:nvSpPr>
        <p:spPr>
          <a:xfrm>
            <a:off x="4626864" y="4242816"/>
            <a:ext cx="82296" cy="0"/>
          </a:xfrm>
          <a:prstGeom prst="line">
            <a:avLst/>
          </a:prstGeom>
          <a:noFill/>
          <a:ln w="15875">
            <a:solidFill>
              <a:srgbClr val="22D3EE"/>
            </a:solidFill>
            <a:prstDash val="solid"/>
            <a:tailEnd type="triangle"/>
          </a:ln>
        </p:spPr>
      </p:sp>
      <p:sp>
        <p:nvSpPr>
          <p:cNvPr id="29" name="Shape 25"/>
          <p:cNvSpPr/>
          <p:nvPr/>
        </p:nvSpPr>
        <p:spPr>
          <a:xfrm>
            <a:off x="4727448" y="4069080"/>
            <a:ext cx="868680" cy="347472"/>
          </a:xfrm>
          <a:prstGeom prst="roundRect">
            <a:avLst>
              <a:gd name="adj" fmla="val 50000"/>
            </a:avLst>
          </a:prstGeom>
          <a:solidFill>
            <a:srgbClr val="22D3EE">
              <a:alpha val="18000"/>
            </a:srgbClr>
          </a:solidFill>
          <a:ln w="9525">
            <a:solidFill>
              <a:srgbClr val="22D3EE">
                <a:alpha val="70000"/>
              </a:srgbClr>
            </a:solidFill>
            <a:prstDash val="solid"/>
          </a:ln>
        </p:spPr>
      </p:sp>
      <p:sp>
        <p:nvSpPr>
          <p:cNvPr id="30" name="Text 26"/>
          <p:cNvSpPr txBox="1"/>
          <p:nvPr/>
        </p:nvSpPr>
        <p:spPr>
          <a:xfrm>
            <a:off x="4727448" y="4069080"/>
            <a:ext cx="868680" cy="347472"/>
          </a:xfrm>
          <a:prstGeom prst="rect">
            <a:avLst/>
          </a:prstGeom>
          <a:noFill/>
          <a:ln/>
        </p:spPr>
        <p:txBody>
          <a:bodyPr wrap="square" lIns="0" tIns="0" rIns="0" bIns="0" rtlCol="0" anchor="ctr"/>
          <a:lstStyle/>
          <a:p>
            <a:pPr algn="ctr" indent="0" marL="0">
              <a:buNone/>
            </a:pPr>
            <a:r>
              <a:rPr lang="en-US" sz="1100" dirty="0">
                <a:solidFill>
                  <a:srgbClr val="F1F5F9"/>
                </a:solidFill>
                <a:latin typeface="Calibri" pitchFamily="34" charset="0"/>
                <a:ea typeface="Calibri" pitchFamily="34" charset="-122"/>
                <a:cs typeface="Calibri" pitchFamily="34" charset="-120"/>
              </a:rPr>
              <a:t>Prioritize</a:t>
            </a:r>
            <a:endParaRPr lang="en-US" sz="1100" dirty="0"/>
          </a:p>
        </p:txBody>
      </p:sp>
      <p:sp>
        <p:nvSpPr>
          <p:cNvPr id="31" name="Text 27"/>
          <p:cNvSpPr txBox="1"/>
          <p:nvPr/>
        </p:nvSpPr>
        <p:spPr>
          <a:xfrm>
            <a:off x="777240" y="4572000"/>
            <a:ext cx="4937760" cy="365760"/>
          </a:xfrm>
          <a:prstGeom prst="rect">
            <a:avLst/>
          </a:prstGeom>
          <a:noFill/>
          <a:ln/>
        </p:spPr>
        <p:txBody>
          <a:bodyPr wrap="square" lIns="0" tIns="0" rIns="0" bIns="0" rtlCol="0" anchor="t"/>
          <a:lstStyle/>
          <a:p>
            <a:pPr indent="0" marL="0">
              <a:buNone/>
            </a:pPr>
            <a:r>
              <a:rPr lang="en-US" sz="1250" dirty="0">
                <a:solidFill>
                  <a:srgbClr val="9FB0C8"/>
                </a:solidFill>
                <a:latin typeface="Calibri" pitchFamily="34" charset="0"/>
                <a:ea typeface="Calibri" pitchFamily="34" charset="-122"/>
                <a:cs typeface="Calibri" pitchFamily="34" charset="-120"/>
              </a:rPr>
              <a:t>Kepler candidates — without manually going through the entire dataset.</a:t>
            </a:r>
            <a:endParaRPr lang="en-US" sz="1250" dirty="0"/>
          </a:p>
        </p:txBody>
      </p:sp>
      <p:sp>
        <p:nvSpPr>
          <p:cNvPr id="32" name="Shape 28"/>
          <p:cNvSpPr/>
          <p:nvPr/>
        </p:nvSpPr>
        <p:spPr>
          <a:xfrm>
            <a:off x="6231636" y="3291840"/>
            <a:ext cx="5408676" cy="1783080"/>
          </a:xfrm>
          <a:prstGeom prst="roundRect">
            <a:avLst>
              <a:gd name="adj" fmla="val 6154"/>
            </a:avLst>
          </a:prstGeom>
          <a:solidFill>
            <a:srgbClr val="0B1630">
              <a:alpha val="78000"/>
            </a:srgbClr>
          </a:solidFill>
          <a:ln w="9525">
            <a:solidFill>
              <a:srgbClr val="2B4B7E">
                <a:alpha val="65000"/>
              </a:srgbClr>
            </a:solidFill>
            <a:prstDash val="solid"/>
          </a:ln>
        </p:spPr>
      </p:sp>
      <p:sp>
        <p:nvSpPr>
          <p:cNvPr id="33" name="Shape 29"/>
          <p:cNvSpPr/>
          <p:nvPr/>
        </p:nvSpPr>
        <p:spPr>
          <a:xfrm>
            <a:off x="6460236" y="3429000"/>
            <a:ext cx="457200" cy="457200"/>
          </a:xfrm>
          <a:prstGeom prst="ellipse">
            <a:avLst/>
          </a:prstGeom>
          <a:solidFill>
            <a:srgbClr val="A78BFA">
              <a:alpha val="20000"/>
            </a:srgbClr>
          </a:solidFill>
          <a:ln w="12700">
            <a:solidFill>
              <a:srgbClr val="A78BFA">
                <a:alpha val="75000"/>
              </a:srgbClr>
            </a:solidFill>
            <a:prstDash val="solid"/>
          </a:ln>
        </p:spPr>
      </p:sp>
      <p:pic>
        <p:nvPicPr>
          <p:cNvPr id="34" name="Image 2" descr="preencoded.png">    </p:cNvPr>
          <p:cNvPicPr>
            <a:picLocks noChangeAspect="1"/>
          </p:cNvPicPr>
          <p:nvPr/>
        </p:nvPicPr>
        <p:blipFill>
          <a:blip r:embed="rId4"/>
          <a:stretch>
            <a:fillRect/>
          </a:stretch>
        </p:blipFill>
        <p:spPr>
          <a:xfrm>
            <a:off x="6583680" y="3552444"/>
            <a:ext cx="210312" cy="210312"/>
          </a:xfrm>
          <a:prstGeom prst="rect">
            <a:avLst/>
          </a:prstGeom>
        </p:spPr>
      </p:pic>
      <p:sp>
        <p:nvSpPr>
          <p:cNvPr id="35" name="Text 30"/>
          <p:cNvSpPr txBox="1"/>
          <p:nvPr/>
        </p:nvSpPr>
        <p:spPr>
          <a:xfrm>
            <a:off x="7040880" y="3429000"/>
            <a:ext cx="4480560" cy="4572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Students &amp; Researchers</a:t>
            </a:r>
            <a:endParaRPr lang="en-US" sz="1600" dirty="0"/>
          </a:p>
        </p:txBody>
      </p:sp>
      <p:sp>
        <p:nvSpPr>
          <p:cNvPr id="36" name="Text 31"/>
          <p:cNvSpPr txBox="1"/>
          <p:nvPr/>
        </p:nvSpPr>
        <p:spPr>
          <a:xfrm>
            <a:off x="6460236" y="4005072"/>
            <a:ext cx="914400" cy="22860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Explore:</a:t>
            </a:r>
            <a:endParaRPr lang="en-US" sz="1100" dirty="0"/>
          </a:p>
        </p:txBody>
      </p:sp>
      <p:sp>
        <p:nvSpPr>
          <p:cNvPr id="37" name="Shape 32"/>
          <p:cNvSpPr/>
          <p:nvPr/>
        </p:nvSpPr>
        <p:spPr>
          <a:xfrm>
            <a:off x="6460236" y="4279392"/>
            <a:ext cx="1737360"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38" name="Text 33"/>
          <p:cNvSpPr txBox="1"/>
          <p:nvPr/>
        </p:nvSpPr>
        <p:spPr>
          <a:xfrm>
            <a:off x="6460236" y="4279392"/>
            <a:ext cx="1737360" cy="347472"/>
          </a:xfrm>
          <a:prstGeom prst="rect">
            <a:avLst/>
          </a:prstGeom>
          <a:noFill/>
          <a:ln/>
        </p:spPr>
        <p:txBody>
          <a:bodyPr wrap="square" lIns="0" tIns="0" rIns="0" bIns="0" rtlCol="0" anchor="ctr"/>
          <a:lstStyle/>
          <a:p>
            <a:pPr algn="ctr" indent="0" marL="0">
              <a:buNone/>
            </a:pPr>
            <a:r>
              <a:rPr lang="en-US" sz="1150" dirty="0">
                <a:solidFill>
                  <a:srgbClr val="F1F5F9"/>
                </a:solidFill>
                <a:latin typeface="Calibri" pitchFamily="34" charset="0"/>
                <a:ea typeface="Calibri" pitchFamily="34" charset="-122"/>
                <a:cs typeface="Calibri" pitchFamily="34" charset="-120"/>
              </a:rPr>
              <a:t>Exoplanet properties</a:t>
            </a:r>
            <a:endParaRPr lang="en-US" sz="1150" dirty="0"/>
          </a:p>
        </p:txBody>
      </p:sp>
      <p:sp>
        <p:nvSpPr>
          <p:cNvPr id="39" name="Shape 34"/>
          <p:cNvSpPr/>
          <p:nvPr/>
        </p:nvSpPr>
        <p:spPr>
          <a:xfrm>
            <a:off x="8270748" y="4279392"/>
            <a:ext cx="1600200"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40" name="Text 35"/>
          <p:cNvSpPr txBox="1"/>
          <p:nvPr/>
        </p:nvSpPr>
        <p:spPr>
          <a:xfrm>
            <a:off x="8270748" y="4279392"/>
            <a:ext cx="1600200" cy="347472"/>
          </a:xfrm>
          <a:prstGeom prst="rect">
            <a:avLst/>
          </a:prstGeom>
          <a:noFill/>
          <a:ln/>
        </p:spPr>
        <p:txBody>
          <a:bodyPr wrap="square" lIns="0" tIns="0" rIns="0" bIns="0" rtlCol="0" anchor="ctr"/>
          <a:lstStyle/>
          <a:p>
            <a:pPr algn="ctr" indent="0" marL="0">
              <a:buNone/>
            </a:pPr>
            <a:r>
              <a:rPr lang="en-US" sz="1150" dirty="0">
                <a:solidFill>
                  <a:srgbClr val="F1F5F9"/>
                </a:solidFill>
                <a:latin typeface="Calibri" pitchFamily="34" charset="0"/>
                <a:ea typeface="Calibri" pitchFamily="34" charset="-122"/>
                <a:cs typeface="Calibri" pitchFamily="34" charset="-120"/>
              </a:rPr>
              <a:t>Stellar properties</a:t>
            </a:r>
            <a:endParaRPr lang="en-US" sz="1150" dirty="0"/>
          </a:p>
        </p:txBody>
      </p:sp>
      <p:sp>
        <p:nvSpPr>
          <p:cNvPr id="41" name="Shape 36"/>
          <p:cNvSpPr/>
          <p:nvPr/>
        </p:nvSpPr>
        <p:spPr>
          <a:xfrm>
            <a:off x="9944100" y="4279392"/>
            <a:ext cx="1371600"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42" name="Text 37"/>
          <p:cNvSpPr txBox="1"/>
          <p:nvPr/>
        </p:nvSpPr>
        <p:spPr>
          <a:xfrm>
            <a:off x="9944100" y="4279392"/>
            <a:ext cx="1371600" cy="347472"/>
          </a:xfrm>
          <a:prstGeom prst="rect">
            <a:avLst/>
          </a:prstGeom>
          <a:noFill/>
          <a:ln/>
        </p:spPr>
        <p:txBody>
          <a:bodyPr wrap="square" lIns="0" tIns="0" rIns="0" bIns="0" rtlCol="0" anchor="ctr"/>
          <a:lstStyle/>
          <a:p>
            <a:pPr algn="ctr" indent="0" marL="0">
              <a:buNone/>
            </a:pPr>
            <a:r>
              <a:rPr lang="en-US" sz="1150" dirty="0">
                <a:solidFill>
                  <a:srgbClr val="F1F5F9"/>
                </a:solidFill>
                <a:latin typeface="Calibri" pitchFamily="34" charset="0"/>
                <a:ea typeface="Calibri" pitchFamily="34" charset="-122"/>
                <a:cs typeface="Calibri" pitchFamily="34" charset="-120"/>
              </a:rPr>
              <a:t>Transit events</a:t>
            </a:r>
            <a:endParaRPr lang="en-US" sz="1150" dirty="0"/>
          </a:p>
        </p:txBody>
      </p:sp>
      <p:sp>
        <p:nvSpPr>
          <p:cNvPr id="43" name="Shape 38"/>
          <p:cNvSpPr/>
          <p:nvPr/>
        </p:nvSpPr>
        <p:spPr>
          <a:xfrm>
            <a:off x="6460236" y="4709160"/>
            <a:ext cx="2011680"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44" name="Text 39"/>
          <p:cNvSpPr txBox="1"/>
          <p:nvPr/>
        </p:nvSpPr>
        <p:spPr>
          <a:xfrm>
            <a:off x="6460236" y="4709160"/>
            <a:ext cx="2011680" cy="347472"/>
          </a:xfrm>
          <a:prstGeom prst="rect">
            <a:avLst/>
          </a:prstGeom>
          <a:noFill/>
          <a:ln/>
        </p:spPr>
        <p:txBody>
          <a:bodyPr wrap="square" lIns="0" tIns="0" rIns="0" bIns="0" rtlCol="0" anchor="ctr"/>
          <a:lstStyle/>
          <a:p>
            <a:pPr algn="ctr" indent="0" marL="0">
              <a:buNone/>
            </a:pPr>
            <a:r>
              <a:rPr lang="en-US" sz="1150" dirty="0">
                <a:solidFill>
                  <a:srgbClr val="F1F5F9"/>
                </a:solidFill>
                <a:latin typeface="Calibri" pitchFamily="34" charset="0"/>
                <a:ea typeface="Calibri" pitchFamily="34" charset="-122"/>
                <a:cs typeface="Calibri" pitchFamily="34" charset="-120"/>
              </a:rPr>
              <a:t>Data-analysis techniques</a:t>
            </a:r>
            <a:endParaRPr lang="en-US" sz="1150" dirty="0"/>
          </a:p>
        </p:txBody>
      </p:sp>
      <p:sp>
        <p:nvSpPr>
          <p:cNvPr id="45" name="Shape 40"/>
          <p:cNvSpPr/>
          <p:nvPr/>
        </p:nvSpPr>
        <p:spPr>
          <a:xfrm>
            <a:off x="8563356" y="4709160"/>
            <a:ext cx="1691640" cy="347472"/>
          </a:xfrm>
          <a:prstGeom prst="roundRect">
            <a:avLst>
              <a:gd name="adj" fmla="val 50000"/>
            </a:avLst>
          </a:prstGeom>
          <a:solidFill>
            <a:srgbClr val="A78BFA">
              <a:alpha val="18000"/>
            </a:srgbClr>
          </a:solidFill>
          <a:ln w="9525">
            <a:solidFill>
              <a:srgbClr val="A78BFA">
                <a:alpha val="70000"/>
              </a:srgbClr>
            </a:solidFill>
            <a:prstDash val="solid"/>
          </a:ln>
        </p:spPr>
      </p:sp>
      <p:sp>
        <p:nvSpPr>
          <p:cNvPr id="46" name="Text 41"/>
          <p:cNvSpPr txBox="1"/>
          <p:nvPr/>
        </p:nvSpPr>
        <p:spPr>
          <a:xfrm>
            <a:off x="8563356" y="4709160"/>
            <a:ext cx="1691640" cy="347472"/>
          </a:xfrm>
          <a:prstGeom prst="rect">
            <a:avLst/>
          </a:prstGeom>
          <a:noFill/>
          <a:ln/>
        </p:spPr>
        <p:txBody>
          <a:bodyPr wrap="square" lIns="0" tIns="0" rIns="0" bIns="0" rtlCol="0" anchor="ctr"/>
          <a:lstStyle/>
          <a:p>
            <a:pPr algn="ctr" indent="0" marL="0">
              <a:buNone/>
            </a:pPr>
            <a:r>
              <a:rPr lang="en-US" sz="1150" dirty="0">
                <a:solidFill>
                  <a:srgbClr val="F1F5F9"/>
                </a:solidFill>
                <a:latin typeface="Calibri" pitchFamily="34" charset="0"/>
                <a:ea typeface="Calibri" pitchFamily="34" charset="-122"/>
                <a:cs typeface="Calibri" pitchFamily="34" charset="-120"/>
              </a:rPr>
              <a:t>ML classification</a:t>
            </a:r>
            <a:endParaRPr lang="en-US" sz="1150" dirty="0"/>
          </a:p>
        </p:txBody>
      </p:sp>
      <p:sp>
        <p:nvSpPr>
          <p:cNvPr id="47" name="Shape 42"/>
          <p:cNvSpPr/>
          <p:nvPr/>
        </p:nvSpPr>
        <p:spPr>
          <a:xfrm>
            <a:off x="548640" y="5303520"/>
            <a:ext cx="11091672" cy="1005840"/>
          </a:xfrm>
          <a:prstGeom prst="roundRect">
            <a:avLst>
              <a:gd name="adj" fmla="val 10909"/>
            </a:avLst>
          </a:prstGeom>
          <a:solidFill>
            <a:srgbClr val="0B2A4A">
              <a:alpha val="85000"/>
            </a:srgbClr>
          </a:solidFill>
          <a:ln w="9525">
            <a:solidFill>
              <a:srgbClr val="22D3EE">
                <a:alpha val="75000"/>
              </a:srgbClr>
            </a:solidFill>
            <a:prstDash val="solid"/>
          </a:ln>
        </p:spPr>
      </p:sp>
      <p:sp>
        <p:nvSpPr>
          <p:cNvPr id="48" name="Text 43"/>
          <p:cNvSpPr txBox="1"/>
          <p:nvPr/>
        </p:nvSpPr>
        <p:spPr>
          <a:xfrm>
            <a:off x="822960" y="5303520"/>
            <a:ext cx="10515600" cy="1005840"/>
          </a:xfrm>
          <a:prstGeom prst="rect">
            <a:avLst/>
          </a:prstGeom>
          <a:noFill/>
          <a:ln/>
        </p:spPr>
        <p:txBody>
          <a:bodyPr wrap="square" lIns="0" tIns="0" rIns="0" bIns="0" rtlCol="0" anchor="ctr"/>
          <a:lstStyle/>
          <a:p>
            <a:pPr indent="0" marL="0">
              <a:buNone/>
            </a:pPr>
            <a:r>
              <a:rPr lang="en-US" sz="1450" b="1" dirty="0">
                <a:solidFill>
                  <a:srgbClr val="F1F5F9"/>
                </a:solidFill>
                <a:latin typeface="Calibri" pitchFamily="34" charset="0"/>
                <a:ea typeface="Calibri" pitchFamily="34" charset="-122"/>
                <a:cs typeface="Calibri" pitchFamily="34" charset="-120"/>
              </a:rPr>
              <a:t>We are developing an AI-assisted interactive platform that allows users to ask questions about the NASA Kepler dataset in natural language and receive relevant, understandable information about exoplanet candidates, their host stars, transit events, and ML-based candidate classification and screening.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Kepler Exoplanet Analysis Platform</dc:title>
  <dc:subject>PptxGenJS Presentation</dc:subject>
  <dc:creator>Hack vok</dc:creator>
  <cp:lastModifiedBy>Hack vok</cp:lastModifiedBy>
  <cp:revision>1</cp:revision>
  <dcterms:created xsi:type="dcterms:W3CDTF">2026-10-01T18:46:13Z</dcterms:created>
  <dcterms:modified xsi:type="dcterms:W3CDTF">2026-10-01T18:46:13Z</dcterms:modified>
</cp:coreProperties>
</file>